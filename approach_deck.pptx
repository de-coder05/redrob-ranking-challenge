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800" b="1">
                <a:solidFill>
                  <a:srgbClr val="1A1530"/>
                </a:solidFill>
                <a:latin typeface="Manrope SemiBold"/>
              </a:rPr>
              <a:t>  InnoCoders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800" b="1">
                <a:solidFill>
                  <a:srgbClr val="1A1530"/>
                </a:solidFill>
                <a:latin typeface="Manrope SemiBold"/>
              </a:rPr>
              <a:t>  Candidate ranking for a Senior AI/ML Engineer role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800" b="1">
                <a:solidFill>
                  <a:srgbClr val="1A1530"/>
                </a:solidFill>
                <a:latin typeface="Manrope SemiBold"/>
              </a:rPr>
              <a:t>  Devansh Wadhwani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82203" y="1473398"/>
            <a:ext cx="8179593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5A5570"/>
                </a:solidFill>
                <a:latin typeface="Calibri"/>
              </a:rPr>
              <a:t>Scores every candidate on five recruiter dimensions — reading career evidence, not keywords.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82203" y="1919882"/>
            <a:ext cx="2619374" cy="1116210"/>
          </a:xfrm>
          <a:prstGeom prst="roundRect">
            <a:avLst>
              <a:gd name="adj" fmla="val 7000"/>
            </a:avLst>
          </a:prstGeom>
          <a:solidFill>
            <a:srgbClr val="F3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5078" y="2089546"/>
            <a:ext cx="2351484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5200" b="1">
                <a:solidFill>
                  <a:srgbClr val="6C3FC4"/>
                </a:solidFill>
                <a:latin typeface="Calibri"/>
              </a:rPr>
              <a:t>100K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4007" y="2678906"/>
            <a:ext cx="2351484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candidates scored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262312" y="1919882"/>
            <a:ext cx="2619374" cy="1116210"/>
          </a:xfrm>
          <a:prstGeom prst="roundRect">
            <a:avLst>
              <a:gd name="adj" fmla="val 7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405187" y="2089546"/>
            <a:ext cx="2351484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5200" b="1">
                <a:solidFill>
                  <a:srgbClr val="2540E8"/>
                </a:solidFill>
                <a:latin typeface="Calibri"/>
              </a:rPr>
              <a:t>31s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14117" y="2678906"/>
            <a:ext cx="2351484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end-to-end · 1 CPU core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42421" y="1919882"/>
            <a:ext cx="2619374" cy="1116210"/>
          </a:xfrm>
          <a:prstGeom prst="roundRect">
            <a:avLst>
              <a:gd name="adj" fmla="val 7000"/>
            </a:avLst>
          </a:prstGeom>
          <a:solidFill>
            <a:srgbClr val="E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185296" y="2089546"/>
            <a:ext cx="2351484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5200" b="1">
                <a:solidFill>
                  <a:srgbClr val="0CA678"/>
                </a:solidFill>
                <a:latin typeface="Calibri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94226" y="2678906"/>
            <a:ext cx="2351484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external dependencies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82203" y="3214687"/>
            <a:ext cx="1915417" cy="205382"/>
          </a:xfrm>
          <a:prstGeom prst="roundRect">
            <a:avLst>
              <a:gd name="adj" fmla="val 50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82203" y="3214687"/>
            <a:ext cx="1915417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6C3FC4"/>
                </a:solidFill>
                <a:latin typeface="Calibri"/>
              </a:rPr>
              <a:t>Five-dimension scoring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477988" y="3214687"/>
            <a:ext cx="1535906" cy="205382"/>
          </a:xfrm>
          <a:prstGeom prst="roundRect">
            <a:avLst>
              <a:gd name="adj" fmla="val 50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2477988" y="3214687"/>
            <a:ext cx="153590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D6336C"/>
                </a:solidFill>
                <a:latin typeface="Calibri"/>
              </a:rPr>
              <a:t>Honeypot defense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94261" y="3214687"/>
            <a:ext cx="1433214" cy="205382"/>
          </a:xfrm>
          <a:prstGeom prst="roundRect">
            <a:avLst>
              <a:gd name="adj" fmla="val 50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4094261" y="3214687"/>
            <a:ext cx="1433214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Fully explainable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82203" y="1473398"/>
            <a:ext cx="8179593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5A5570"/>
                </a:solidFill>
                <a:latin typeface="Calibri"/>
              </a:rPr>
              <a:t>Role — retrieval, ranking &amp; recommendation systems.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2203" y="1875234"/>
            <a:ext cx="8179593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6C3FC4"/>
                </a:solidFill>
                <a:latin typeface="Calibri"/>
              </a:rPr>
              <a:t>SIGNALS THAT MATTER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82203" y="2107406"/>
            <a:ext cx="1388566" cy="205382"/>
          </a:xfrm>
          <a:prstGeom prst="roundRect">
            <a:avLst>
              <a:gd name="adj" fmla="val 5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2203" y="2107406"/>
            <a:ext cx="138856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Career evidence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951136" y="2107406"/>
            <a:ext cx="1250086" cy="205382"/>
          </a:xfrm>
          <a:prstGeom prst="roundRect">
            <a:avLst>
              <a:gd name="adj" fmla="val 5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951136" y="2107406"/>
            <a:ext cx="125008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Title trajectory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81590" y="2107406"/>
            <a:ext cx="1446609" cy="205382"/>
          </a:xfrm>
          <a:prstGeom prst="roundRect">
            <a:avLst>
              <a:gd name="adj" fmla="val 5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281590" y="2107406"/>
            <a:ext cx="1446609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Production proof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808566" y="2107406"/>
            <a:ext cx="1482118" cy="205382"/>
          </a:xfrm>
          <a:prstGeom prst="roundRect">
            <a:avLst>
              <a:gd name="adj" fmla="val 5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8566" y="2107406"/>
            <a:ext cx="1482118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Tenure &amp; stability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71052" y="2107406"/>
            <a:ext cx="1008984" cy="205382"/>
          </a:xfrm>
          <a:prstGeom prst="roundRect">
            <a:avLst>
              <a:gd name="adj" fmla="val 5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6371052" y="2107406"/>
            <a:ext cx="1008984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Availability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2203" y="2893218"/>
            <a:ext cx="8179593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D6336C"/>
                </a:solidFill>
                <a:latin typeface="Calibri"/>
              </a:rPr>
              <a:t>DISQUALIFIERS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2203" y="3071812"/>
            <a:ext cx="8179593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non-technical · consulting-only · research-only · ghost profiles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82203" y="1785937"/>
            <a:ext cx="1546621" cy="5357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D6336C"/>
                </a:solidFill>
                <a:latin typeface="Calibri"/>
              </a:rPr>
              <a:t>28</a:t>
            </a:r>
            <a:r>
              <a:rPr sz="2200" b="1">
                <a:solidFill>
                  <a:srgbClr val="D6336C"/>
                </a:solidFill>
                <a:latin typeface="Calibri"/>
              </a:rPr>
              <a:t>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0062" y="2344042"/>
            <a:ext cx="1546621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Technical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18121" y="1785937"/>
            <a:ext cx="1546621" cy="5357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6C3FC4"/>
                </a:solidFill>
                <a:latin typeface="Calibri"/>
              </a:rPr>
              <a:t>25</a:t>
            </a:r>
            <a:r>
              <a:rPr sz="2200" b="1">
                <a:solidFill>
                  <a:srgbClr val="6C3FC4"/>
                </a:solidFill>
                <a:latin typeface="Calibri"/>
              </a:rPr>
              <a:t>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35981" y="2344042"/>
            <a:ext cx="1546621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Title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754040" y="1785937"/>
            <a:ext cx="1546621" cy="5357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2540E8"/>
                </a:solidFill>
                <a:latin typeface="Calibri"/>
              </a:rPr>
              <a:t>20</a:t>
            </a:r>
            <a:r>
              <a:rPr sz="2200" b="1">
                <a:solidFill>
                  <a:srgbClr val="2540E8"/>
                </a:solidFill>
                <a:latin typeface="Calibri"/>
              </a:rPr>
              <a:t>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71899" y="2344042"/>
            <a:ext cx="1546621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Career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89959" y="1785937"/>
            <a:ext cx="1546621" cy="5357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E8590C"/>
                </a:solidFill>
                <a:latin typeface="Calibri"/>
              </a:rPr>
              <a:t>17</a:t>
            </a:r>
            <a:r>
              <a:rPr sz="2200" b="1">
                <a:solidFill>
                  <a:srgbClr val="E8590C"/>
                </a:solidFill>
                <a:latin typeface="Calibri"/>
              </a:rPr>
              <a:t>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07818" y="2344042"/>
            <a:ext cx="1546621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Experience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25878" y="1785937"/>
            <a:ext cx="1546621" cy="5357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CA678"/>
                </a:solidFill>
                <a:latin typeface="Calibri"/>
              </a:rPr>
              <a:t>10</a:t>
            </a:r>
            <a:r>
              <a:rPr sz="2200" b="1">
                <a:solidFill>
                  <a:srgbClr val="0CA678"/>
                </a:solidFill>
                <a:latin typeface="Calibri"/>
              </a:rPr>
              <a:t>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43737" y="2344042"/>
            <a:ext cx="1546621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00" b="0">
                <a:solidFill>
                  <a:srgbClr val="5A5570"/>
                </a:solidFill>
                <a:latin typeface="Calibri"/>
              </a:rPr>
              <a:t>Availability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2203" y="2835175"/>
            <a:ext cx="8179593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8A85A0"/>
                </a:solidFill>
                <a:latin typeface="Calibri"/>
              </a:rPr>
              <a:t>Skills are cross-validated against career text before they can lift a score.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2203" y="3192363"/>
            <a:ext cx="8179593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1">
                <a:solidFill>
                  <a:srgbClr val="1A1530"/>
                </a:solidFill>
                <a:latin typeface="Calibri"/>
              </a:rPr>
              <a:t>score  ×  location  ×  disqualifier penalties</a:t>
            </a:r>
            <a:r>
              <a:rPr sz="1700" b="0">
                <a:solidFill>
                  <a:srgbClr val="5A5570"/>
                </a:solidFill>
                <a:latin typeface="Calibri"/>
              </a:rPr>
              <a:t>      ·   deterministic tie-break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82203" y="1473398"/>
            <a:ext cx="3661171" cy="66972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A5570"/>
                </a:solidFill>
                <a:latin typeface="Calibri"/>
              </a:rPr>
              <a:t>Every rank is justified from profile facts only — </a:t>
            </a:r>
            <a:r>
              <a:rPr sz="1600" b="1">
                <a:solidFill>
                  <a:srgbClr val="1A1530"/>
                </a:solidFill>
                <a:latin typeface="Calibri"/>
              </a:rPr>
              <a:t>zero hallucinated skills.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203" y="2098476"/>
            <a:ext cx="3661171" cy="13394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>
                <a:solidFill>
                  <a:srgbClr val="E8590C"/>
                </a:solidFill>
                <a:latin typeface="Calibri"/>
              </a:rPr>
              <a:t>HONEYPOT SELF-CONSISTENCY CHECKS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82203" y="2286000"/>
            <a:ext cx="1196578" cy="205382"/>
          </a:xfrm>
          <a:prstGeom prst="roundRect">
            <a:avLst>
              <a:gd name="adj" fmla="val 50000"/>
            </a:avLst>
          </a:prstGeom>
          <a:solidFill>
            <a:srgbClr val="FD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82203" y="2286000"/>
            <a:ext cx="1196578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E8590C"/>
                </a:solidFill>
                <a:latin typeface="Calibri"/>
              </a:rPr>
              <a:t>date arithmetic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750218" y="2286000"/>
            <a:ext cx="955476" cy="205382"/>
          </a:xfrm>
          <a:prstGeom prst="roundRect">
            <a:avLst>
              <a:gd name="adj" fmla="val 50000"/>
            </a:avLst>
          </a:prstGeom>
          <a:solidFill>
            <a:srgbClr val="FD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1750218" y="2286000"/>
            <a:ext cx="95547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E8590C"/>
                </a:solidFill>
                <a:latin typeface="Calibri"/>
              </a:rPr>
              <a:t>expert-zero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77132" y="2286000"/>
            <a:ext cx="1062632" cy="205382"/>
          </a:xfrm>
          <a:prstGeom prst="roundRect">
            <a:avLst>
              <a:gd name="adj" fmla="val 50000"/>
            </a:avLst>
          </a:prstGeom>
          <a:solidFill>
            <a:srgbClr val="FD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2777132" y="2286000"/>
            <a:ext cx="1062632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E8590C"/>
                </a:solidFill>
                <a:latin typeface="Calibri"/>
              </a:rPr>
              <a:t>YOE vs span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911203" y="2286000"/>
            <a:ext cx="1397496" cy="205382"/>
          </a:xfrm>
          <a:prstGeom prst="roundRect">
            <a:avLst>
              <a:gd name="adj" fmla="val 50000"/>
            </a:avLst>
          </a:prstGeom>
          <a:solidFill>
            <a:srgbClr val="FD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3911203" y="2286000"/>
            <a:ext cx="139749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1">
                <a:solidFill>
                  <a:srgbClr val="E8590C"/>
                </a:solidFill>
                <a:latin typeface="Calibri"/>
              </a:rPr>
              <a:t>tech anachronism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2031" y="1562695"/>
            <a:ext cx="3661171" cy="5572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5200" b="1">
                <a:solidFill>
                  <a:srgbClr val="D6336C"/>
                </a:solidFill>
                <a:latin typeface="Calibri"/>
              </a:rPr>
              <a:t>141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39890" y="2247602"/>
            <a:ext cx="3661171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A5570"/>
                </a:solidFill>
                <a:latin typeface="Calibri"/>
              </a:rPr>
              <a:t>impossible profiles caught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22031" y="2500312"/>
            <a:ext cx="3661171" cy="5572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5200" b="1">
                <a:solidFill>
                  <a:srgbClr val="6C3FC4"/>
                </a:solidFill>
                <a:latin typeface="Calibri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39890" y="3185219"/>
            <a:ext cx="3661171" cy="2678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A5570"/>
                </a:solidFill>
                <a:latin typeface="Calibri"/>
              </a:rPr>
              <a:t>in the submitted top 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482203" y="2098476"/>
            <a:ext cx="1259085" cy="535781"/>
          </a:xfrm>
          <a:prstGeom prst="roundRect">
            <a:avLst>
              <a:gd name="adj" fmla="val 16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482203" y="2098476"/>
            <a:ext cx="1259085" cy="35718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203" y="2160984"/>
            <a:ext cx="1259085" cy="47327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1A1530"/>
                </a:solidFill>
                <a:latin typeface="Calibri"/>
              </a:rPr>
              <a:t>JD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1763613" y="2321718"/>
            <a:ext cx="80367" cy="89296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B7B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ounded Rectangle 95"/>
          <p:cNvSpPr/>
          <p:nvPr/>
        </p:nvSpPr>
        <p:spPr>
          <a:xfrm>
            <a:off x="1866304" y="2098476"/>
            <a:ext cx="1259085" cy="535781"/>
          </a:xfrm>
          <a:prstGeom prst="roundRect">
            <a:avLst>
              <a:gd name="adj" fmla="val 16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1866304" y="2098476"/>
            <a:ext cx="1259085" cy="35718"/>
          </a:xfrm>
          <a:prstGeom prst="rect">
            <a:avLst/>
          </a:prstGeom>
          <a:solidFill>
            <a:srgbClr val="254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866304" y="2160984"/>
            <a:ext cx="1259085" cy="47327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1A1530"/>
                </a:solidFill>
                <a:latin typeface="Calibri"/>
              </a:rPr>
              <a:t>Parse 100K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3147714" y="2321718"/>
            <a:ext cx="80367" cy="89296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B7B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unded Rectangle 99"/>
          <p:cNvSpPr/>
          <p:nvPr/>
        </p:nvSpPr>
        <p:spPr>
          <a:xfrm>
            <a:off x="3250406" y="2098476"/>
            <a:ext cx="1259085" cy="535781"/>
          </a:xfrm>
          <a:prstGeom prst="roundRect">
            <a:avLst>
              <a:gd name="adj" fmla="val 16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3250406" y="2098476"/>
            <a:ext cx="1259085" cy="35718"/>
          </a:xfrm>
          <a:prstGeom prst="rect">
            <a:avLst/>
          </a:prstGeom>
          <a:solidFill>
            <a:srgbClr val="3D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250406" y="2160984"/>
            <a:ext cx="1259085" cy="47327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1A1530"/>
                </a:solidFill>
                <a:latin typeface="Calibri"/>
              </a:rPr>
              <a:t>Score 5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4531816" y="2321718"/>
            <a:ext cx="80367" cy="89296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B7B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ounded Rectangle 103"/>
          <p:cNvSpPr/>
          <p:nvPr/>
        </p:nvSpPr>
        <p:spPr>
          <a:xfrm>
            <a:off x="4634507" y="2098476"/>
            <a:ext cx="1259085" cy="535781"/>
          </a:xfrm>
          <a:prstGeom prst="roundRect">
            <a:avLst>
              <a:gd name="adj" fmla="val 16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4634507" y="2098476"/>
            <a:ext cx="1259085" cy="3571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4634507" y="2160984"/>
            <a:ext cx="1259085" cy="47327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1A1530"/>
                </a:solidFill>
                <a:latin typeface="Calibri"/>
              </a:rPr>
              <a:t>Honeypot gate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915917" y="2321718"/>
            <a:ext cx="80367" cy="89296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B7B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ounded Rectangle 107"/>
          <p:cNvSpPr/>
          <p:nvPr/>
        </p:nvSpPr>
        <p:spPr>
          <a:xfrm>
            <a:off x="6018609" y="2098476"/>
            <a:ext cx="1259085" cy="535781"/>
          </a:xfrm>
          <a:prstGeom prst="roundRect">
            <a:avLst>
              <a:gd name="adj" fmla="val 16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6018609" y="2098476"/>
            <a:ext cx="1259085" cy="35718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018609" y="2160984"/>
            <a:ext cx="1259085" cy="47327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1A1530"/>
                </a:solidFill>
                <a:latin typeface="Calibri"/>
              </a:rPr>
              <a:t>Rank</a:t>
            </a:r>
          </a:p>
        </p:txBody>
      </p:sp>
      <p:sp>
        <p:nvSpPr>
          <p:cNvPr id="111" name="Right Arrow 110"/>
          <p:cNvSpPr/>
          <p:nvPr/>
        </p:nvSpPr>
        <p:spPr>
          <a:xfrm>
            <a:off x="7300019" y="2321718"/>
            <a:ext cx="80367" cy="89296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B7B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ounded Rectangle 111"/>
          <p:cNvSpPr/>
          <p:nvPr/>
        </p:nvSpPr>
        <p:spPr>
          <a:xfrm>
            <a:off x="7402710" y="2098476"/>
            <a:ext cx="1259085" cy="535781"/>
          </a:xfrm>
          <a:prstGeom prst="roundRect">
            <a:avLst>
              <a:gd name="adj" fmla="val 16000"/>
            </a:avLst>
          </a:prstGeom>
          <a:solidFill>
            <a:srgbClr val="F6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7402710" y="2098476"/>
            <a:ext cx="1259085" cy="3571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7402710" y="2160984"/>
            <a:ext cx="1259085" cy="47327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1">
                <a:solidFill>
                  <a:srgbClr val="1A1530"/>
                </a:solidFill>
                <a:latin typeface="Calibri"/>
              </a:rPr>
              <a:t>Top-100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2203" y="2902148"/>
            <a:ext cx="8179593" cy="16073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400" b="0">
                <a:solidFill>
                  <a:srgbClr val="5A5570"/>
                </a:solidFill>
                <a:latin typeface="Calibri"/>
              </a:rPr>
              <a:t>single pass  ·  ~31s on one CPU core  ·  deterministic, byte-identical reruns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482203" y="1500187"/>
            <a:ext cx="8179593" cy="535781"/>
          </a:xfrm>
          <a:prstGeom prst="roundRect">
            <a:avLst>
              <a:gd name="adj" fmla="val 7000"/>
            </a:avLst>
          </a:prstGeom>
          <a:solidFill>
            <a:srgbClr val="F3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482203" y="1500187"/>
            <a:ext cx="44648" cy="535781"/>
          </a:xfrm>
          <a:prstGeom prst="rect">
            <a:avLst/>
          </a:prstGeom>
          <a:solidFill>
            <a:srgbClr val="6C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34007" y="1580554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1">
                <a:solidFill>
                  <a:srgbClr val="6C3FC4"/>
                </a:solidFill>
                <a:latin typeface="Calibri"/>
              </a:rPr>
              <a:t>INPUT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4007" y="1732359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100K JSONL profiles  +  JD-derived rules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2203" y="2116335"/>
            <a:ext cx="8179593" cy="750093"/>
          </a:xfrm>
          <a:prstGeom prst="roundRect">
            <a:avLst>
              <a:gd name="adj" fmla="val 7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482203" y="2116335"/>
            <a:ext cx="44648" cy="750093"/>
          </a:xfrm>
          <a:prstGeom prst="rect">
            <a:avLst/>
          </a:prstGeom>
          <a:solidFill>
            <a:srgbClr val="254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34007" y="2196703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1">
                <a:solidFill>
                  <a:srgbClr val="2540E8"/>
                </a:solidFill>
                <a:latin typeface="Calibri"/>
              </a:rPr>
              <a:t>SCORING ENGINE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007" y="2348507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five standard-library modules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34007" y="2544960"/>
            <a:ext cx="1518046" cy="20538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54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34007" y="2544960"/>
            <a:ext cx="151804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Title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23492" y="2544960"/>
            <a:ext cx="1518046" cy="20538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54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2223492" y="2544960"/>
            <a:ext cx="151804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Technical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812976" y="2544960"/>
            <a:ext cx="1518046" cy="20538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54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3812976" y="2544960"/>
            <a:ext cx="151804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Career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402460" y="2544960"/>
            <a:ext cx="1518046" cy="20538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54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5402460" y="2544960"/>
            <a:ext cx="151804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Experience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991945" y="2544960"/>
            <a:ext cx="1518046" cy="20538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54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6991945" y="2544960"/>
            <a:ext cx="151804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Availability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82203" y="2946796"/>
            <a:ext cx="8179593" cy="526851"/>
          </a:xfrm>
          <a:prstGeom prst="roundRect">
            <a:avLst>
              <a:gd name="adj" fmla="val 7000"/>
            </a:avLst>
          </a:prstGeom>
          <a:solidFill>
            <a:srgbClr val="FD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482203" y="2946796"/>
            <a:ext cx="44648" cy="526851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634007" y="3027164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1">
                <a:solidFill>
                  <a:srgbClr val="E8590C"/>
                </a:solidFill>
                <a:latin typeface="Calibri"/>
              </a:rPr>
              <a:t>VALIDATION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4007" y="3178968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keyword cross-check  +  honeypot self-consistency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82203" y="3554015"/>
            <a:ext cx="8179593" cy="526851"/>
          </a:xfrm>
          <a:prstGeom prst="roundRect">
            <a:avLst>
              <a:gd name="adj" fmla="val 7000"/>
            </a:avLst>
          </a:prstGeom>
          <a:solidFill>
            <a:srgbClr val="E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482203" y="3554015"/>
            <a:ext cx="44648" cy="526851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634007" y="3634382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1">
                <a:solidFill>
                  <a:srgbClr val="0CA678"/>
                </a:solidFill>
                <a:latin typeface="Calibri"/>
              </a:rPr>
              <a:t>OUTPUT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4007" y="3786187"/>
            <a:ext cx="7875984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validated top-100 CSV  +  per-candidate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482203" y="1518046"/>
            <a:ext cx="2637234" cy="915292"/>
          </a:xfrm>
          <a:prstGeom prst="roundRect">
            <a:avLst>
              <a:gd name="adj" fmla="val 8000"/>
            </a:avLst>
          </a:prstGeom>
          <a:solidFill>
            <a:srgbClr val="F3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616148" y="1634132"/>
            <a:ext cx="2369343" cy="446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200" b="1">
                <a:solidFill>
                  <a:srgbClr val="6C3FC4"/>
                </a:solidFill>
                <a:latin typeface="Calibri"/>
              </a:rPr>
              <a:t>100,000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25078" y="2187773"/>
            <a:ext cx="2369343" cy="2232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candidates scored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253382" y="1518046"/>
            <a:ext cx="2637234" cy="915292"/>
          </a:xfrm>
          <a:prstGeom prst="roundRect">
            <a:avLst>
              <a:gd name="adj" fmla="val 8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387328" y="1634132"/>
            <a:ext cx="2369343" cy="446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200" b="1">
                <a:solidFill>
                  <a:srgbClr val="2540E8"/>
                </a:solidFill>
                <a:latin typeface="Calibri"/>
              </a:rPr>
              <a:t>~31s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396257" y="2187773"/>
            <a:ext cx="2369343" cy="2232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one CPU core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024562" y="1518046"/>
            <a:ext cx="2637234" cy="915292"/>
          </a:xfrm>
          <a:prstGeom prst="roundRect">
            <a:avLst>
              <a:gd name="adj" fmla="val 8000"/>
            </a:avLst>
          </a:prstGeom>
          <a:solidFill>
            <a:srgbClr val="E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158507" y="1634132"/>
            <a:ext cx="2369343" cy="446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200" b="1">
                <a:solidFill>
                  <a:srgbClr val="0CA678"/>
                </a:solidFill>
                <a:latin typeface="Calibri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67437" y="2187773"/>
            <a:ext cx="2369343" cy="2232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dependencies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82203" y="2513707"/>
            <a:ext cx="2637234" cy="915292"/>
          </a:xfrm>
          <a:prstGeom prst="roundRect">
            <a:avLst>
              <a:gd name="adj" fmla="val 8000"/>
            </a:avLst>
          </a:prstGeom>
          <a:solidFill>
            <a:srgbClr val="FD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616148" y="2629792"/>
            <a:ext cx="2369343" cy="446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200" b="1">
                <a:solidFill>
                  <a:srgbClr val="E8590C"/>
                </a:solidFill>
                <a:latin typeface="Calibri"/>
              </a:rP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5078" y="3183433"/>
            <a:ext cx="2369343" cy="2232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honeypots caught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253382" y="2513707"/>
            <a:ext cx="2637234" cy="915292"/>
          </a:xfrm>
          <a:prstGeom prst="roundRect">
            <a:avLst>
              <a:gd name="adj" fmla="val 8000"/>
            </a:avLst>
          </a:prstGeom>
          <a:solidFill>
            <a:srgbClr val="FC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387328" y="2629792"/>
            <a:ext cx="2369343" cy="446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200" b="1">
                <a:solidFill>
                  <a:srgbClr val="D6336C"/>
                </a:solidFill>
                <a:latin typeface="Calibri"/>
              </a:rPr>
              <a:t>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96257" y="3183433"/>
            <a:ext cx="2369343" cy="2232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in the top 100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024562" y="2513707"/>
            <a:ext cx="2637234" cy="915292"/>
          </a:xfrm>
          <a:prstGeom prst="roundRect">
            <a:avLst>
              <a:gd name="adj" fmla="val 8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6158507" y="2629792"/>
            <a:ext cx="2369343" cy="446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200" b="1">
                <a:solidFill>
                  <a:srgbClr val="3D6BC4"/>
                </a:solidFill>
                <a:latin typeface="Calibri"/>
              </a:rPr>
              <a:t>&lt;1GB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167437" y="3183433"/>
            <a:ext cx="2369343" cy="2232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5A5570"/>
                </a:solidFill>
                <a:latin typeface="Calibri"/>
              </a:rPr>
              <a:t>peak memory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482203" y="1607343"/>
            <a:ext cx="8179593" cy="40183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>
                <a:solidFill>
                  <a:srgbClr val="1A1530"/>
                </a:solidFill>
                <a:latin typeface="Calibri"/>
              </a:rPr>
              <a:t>Python standard library only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2203" y="2232421"/>
            <a:ext cx="8179593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5A5570"/>
                </a:solidFill>
                <a:latin typeface="Calibri"/>
              </a:rPr>
              <a:t>no GPU  ·  no network  ·  no model downloads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82203" y="2678906"/>
            <a:ext cx="1241226" cy="205382"/>
          </a:xfrm>
          <a:prstGeom prst="roundRect">
            <a:avLst>
              <a:gd name="adj" fmla="val 5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482203" y="2678906"/>
            <a:ext cx="124122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>
                <a:solidFill>
                  <a:srgbClr val="2540E8"/>
                </a:solidFill>
                <a:latin typeface="Calibri"/>
              </a:rPr>
              <a:t>Reproducible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812726" y="2678906"/>
            <a:ext cx="857250" cy="205382"/>
          </a:xfrm>
          <a:prstGeom prst="roundRect">
            <a:avLst>
              <a:gd name="adj" fmla="val 50000"/>
            </a:avLst>
          </a:prstGeom>
          <a:solidFill>
            <a:srgbClr val="F3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812726" y="2678906"/>
            <a:ext cx="857250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>
                <a:solidFill>
                  <a:srgbClr val="6C3FC4"/>
                </a:solidFill>
                <a:latin typeface="Calibri"/>
              </a:rPr>
              <a:t>Portable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759273" y="2678906"/>
            <a:ext cx="946546" cy="205382"/>
          </a:xfrm>
          <a:prstGeom prst="roundRect">
            <a:avLst>
              <a:gd name="adj" fmla="val 50000"/>
            </a:avLst>
          </a:prstGeom>
          <a:solidFill>
            <a:srgbClr val="E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759273" y="2678906"/>
            <a:ext cx="946546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>
                <a:solidFill>
                  <a:srgbClr val="0CA678"/>
                </a:solidFill>
                <a:latin typeface="Calibri"/>
              </a:rPr>
              <a:t>Auditable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Rounded Rectangle 118"/>
          <p:cNvSpPr/>
          <p:nvPr/>
        </p:nvSpPr>
        <p:spPr>
          <a:xfrm>
            <a:off x="482203" y="1607343"/>
            <a:ext cx="8179593" cy="375046"/>
          </a:xfrm>
          <a:prstGeom prst="roundRect">
            <a:avLst>
              <a:gd name="adj" fmla="val 14000"/>
            </a:avLst>
          </a:prstGeom>
          <a:solidFill>
            <a:srgbClr val="1A1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16148" y="1607343"/>
            <a:ext cx="7911703" cy="3750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00" b="1">
                <a:solidFill>
                  <a:srgbClr val="3DDC97"/>
                </a:solidFill>
                <a:latin typeface="Consolas"/>
              </a:rPr>
              <a:t>$ </a:t>
            </a:r>
            <a:r>
              <a:rPr sz="1600" b="0">
                <a:solidFill>
                  <a:srgbClr val="FFFFFF"/>
                </a:solidFill>
                <a:latin typeface="Consolas"/>
              </a:rPr>
              <a:t>python rank.py --candidates ./candidates.jsonl --out ./InnoCoders.csv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82203" y="2321718"/>
            <a:ext cx="1089421" cy="205382"/>
          </a:xfrm>
          <a:prstGeom prst="roundRect">
            <a:avLst>
              <a:gd name="adj" fmla="val 50000"/>
            </a:avLst>
          </a:prstGeom>
          <a:solidFill>
            <a:srgbClr val="F3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82203" y="2321718"/>
            <a:ext cx="1089421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6C3FC4"/>
                </a:solidFill>
                <a:latin typeface="Calibri"/>
              </a:rPr>
              <a:t>GitHub repo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651992" y="2321718"/>
            <a:ext cx="1357312" cy="205382"/>
          </a:xfrm>
          <a:prstGeom prst="roundRect">
            <a:avLst>
              <a:gd name="adj" fmla="val 50000"/>
            </a:avLst>
          </a:prstGeom>
          <a:solidFill>
            <a:srgbClr val="EC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651992" y="2321718"/>
            <a:ext cx="1357312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2540E8"/>
                </a:solidFill>
                <a:latin typeface="Calibri"/>
              </a:rPr>
              <a:t>InnoCoders.csv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089671" y="2321718"/>
            <a:ext cx="1317128" cy="205382"/>
          </a:xfrm>
          <a:prstGeom prst="roundRect">
            <a:avLst>
              <a:gd name="adj" fmla="val 50000"/>
            </a:avLst>
          </a:prstGeom>
          <a:solidFill>
            <a:srgbClr val="FC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089671" y="2321718"/>
            <a:ext cx="1317128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D6336C"/>
                </a:solidFill>
                <a:latin typeface="Calibri"/>
              </a:rPr>
              <a:t>Approach deck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487167" y="2321718"/>
            <a:ext cx="870644" cy="205382"/>
          </a:xfrm>
          <a:prstGeom prst="roundRect">
            <a:avLst>
              <a:gd name="adj" fmla="val 50000"/>
            </a:avLst>
          </a:prstGeom>
          <a:solidFill>
            <a:srgbClr val="FD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487167" y="2321718"/>
            <a:ext cx="870644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E8590C"/>
                </a:solidFill>
                <a:latin typeface="Calibri"/>
              </a:rPr>
              <a:t>Metadata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38179" y="2321718"/>
            <a:ext cx="861575" cy="205382"/>
          </a:xfrm>
          <a:prstGeom prst="roundRect">
            <a:avLst>
              <a:gd name="adj" fmla="val 50000"/>
            </a:avLst>
          </a:prstGeom>
          <a:solidFill>
            <a:srgbClr val="E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5438179" y="2321718"/>
            <a:ext cx="861575" cy="20538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0CA678"/>
                </a:solidFill>
                <a:latin typeface="Calibri"/>
              </a:rPr>
              <a:t>Validator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2203" y="2723554"/>
            <a:ext cx="8179593" cy="178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0">
                <a:solidFill>
                  <a:srgbClr val="8A85A0"/>
                </a:solidFill>
                <a:latin typeface="Calibri"/>
              </a:rPr>
              <a:t>Reproducible in one command  ·  validator-clean top-100  ·  stdlib-only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