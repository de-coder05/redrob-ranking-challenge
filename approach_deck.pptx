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TextBox 54"/>
          <p:cNvSpPr txBox="1"/>
          <p:nvPr/>
        </p:nvSpPr>
        <p:spPr>
          <a:xfrm>
            <a:off x="1000125" y="2982515"/>
            <a:ext cx="7143750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6C3FC4"/>
                </a:solidFill>
                <a:latin typeface="Calibri"/>
              </a:rPr>
              <a:t>INTELLIGENT CANDIDATE DISCOVERY &amp; RANKING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1132" y="3232546"/>
            <a:ext cx="8161734" cy="53578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1800" b="0" i="1">
                <a:solidFill>
                  <a:srgbClr val="181522"/>
                </a:solidFill>
                <a:latin typeface="Georgia"/>
              </a:rPr>
              <a:t>Ranking 100,000 candidates the way a great recruiter would —</a:t>
            </a:r>
          </a:p>
          <a:p>
            <a:pPr algn="ctr">
              <a:lnSpc>
                <a:spcPct val="112000"/>
              </a:lnSpc>
            </a:pPr>
            <a:r>
              <a:rPr sz="1800" b="0" i="1">
                <a:solidFill>
                  <a:srgbClr val="181522"/>
                </a:solidFill>
                <a:latin typeface="Georgia"/>
              </a:rPr>
              <a:t>by reading career evidence, not counting keywords.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6851" y="4000500"/>
            <a:ext cx="2595562" cy="812601"/>
          </a:xfrm>
          <a:prstGeom prst="roundRect">
            <a:avLst>
              <a:gd name="adj" fmla="val 10000"/>
            </a:avLst>
          </a:prstGeom>
          <a:solidFill>
            <a:srgbClr val="F4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526851" y="4000500"/>
            <a:ext cx="2595562" cy="40183"/>
          </a:xfrm>
          <a:prstGeom prst="rect">
            <a:avLst/>
          </a:prstGeom>
          <a:solidFill>
            <a:srgbClr val="6C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60796" y="4125515"/>
            <a:ext cx="2372320" cy="6161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6C3FC4"/>
                </a:solidFill>
                <a:latin typeface="Calibri"/>
              </a:rPr>
              <a:t>TEAM</a:t>
            </a:r>
          </a:p>
          <a:p>
            <a:pPr algn="l">
              <a:lnSpc>
                <a:spcPct val="106000"/>
              </a:lnSpc>
            </a:pPr>
            <a:r>
              <a:rPr sz="1600" b="1" i="0">
                <a:solidFill>
                  <a:srgbClr val="181522"/>
                </a:solidFill>
                <a:latin typeface="Georgia"/>
              </a:rPr>
              <a:t>InnoCoders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74218" y="4000500"/>
            <a:ext cx="2595562" cy="812601"/>
          </a:xfrm>
          <a:prstGeom prst="roundRect">
            <a:avLst>
              <a:gd name="adj" fmla="val 10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3274218" y="4000500"/>
            <a:ext cx="2595562" cy="40183"/>
          </a:xfrm>
          <a:prstGeom prst="rect">
            <a:avLst/>
          </a:prstGeom>
          <a:solidFill>
            <a:srgbClr val="2B3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3408164" y="4125515"/>
            <a:ext cx="2372320" cy="6161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2B3AD8"/>
                </a:solidFill>
                <a:latin typeface="Calibri"/>
              </a:rPr>
              <a:t>TEAM LEADER</a:t>
            </a:r>
          </a:p>
          <a:p>
            <a:pPr algn="l">
              <a:lnSpc>
                <a:spcPct val="106000"/>
              </a:lnSpc>
            </a:pPr>
            <a:r>
              <a:rPr sz="1600" b="1" i="0">
                <a:solidFill>
                  <a:srgbClr val="181522"/>
                </a:solidFill>
                <a:latin typeface="Georgia"/>
              </a:rPr>
              <a:t>Devansh Wadhwani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21585" y="4000500"/>
            <a:ext cx="2595562" cy="812601"/>
          </a:xfrm>
          <a:prstGeom prst="roundRect">
            <a:avLst>
              <a:gd name="adj" fmla="val 10000"/>
            </a:avLst>
          </a:prstGeom>
          <a:solidFill>
            <a:srgbClr val="FDF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6021585" y="4000500"/>
            <a:ext cx="2595562" cy="40183"/>
          </a:xfrm>
          <a:prstGeom prst="rect">
            <a:avLst/>
          </a:prstGeom>
          <a:solidFill>
            <a:srgbClr val="D32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155531" y="4125515"/>
            <a:ext cx="2372320" cy="6161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150" b="1" i="0">
                <a:solidFill>
                  <a:srgbClr val="D32F6E"/>
                </a:solidFill>
                <a:latin typeface="Calibri"/>
              </a:rPr>
              <a:t>PROBLEM STATEMENT</a:t>
            </a:r>
          </a:p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81522"/>
                </a:solidFill>
                <a:latin typeface="Georgia"/>
              </a:rPr>
              <a:t>Senior AI / ML Engineer</a:t>
            </a:r>
          </a:p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181522"/>
                </a:solidFill>
                <a:latin typeface="Georgia"/>
              </a:rPr>
              <a:t>Candidate Ranking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TextBox 62"/>
          <p:cNvSpPr txBox="1"/>
          <p:nvPr/>
        </p:nvSpPr>
        <p:spPr>
          <a:xfrm>
            <a:off x="526851" y="669726"/>
            <a:ext cx="7322343" cy="2500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6C3FC4"/>
                </a:solidFill>
                <a:latin typeface="Calibri"/>
              </a:rPr>
              <a:t>SOLUTION OVERVIEW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7921" y="875109"/>
            <a:ext cx="7858125" cy="58042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81522"/>
                </a:solidFill>
                <a:latin typeface="Georgia"/>
              </a:rPr>
              <a:t>A recruiter-grade ranking engine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22343" y="535781"/>
            <a:ext cx="1294804" cy="66972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4400" b="1" i="0">
                <a:solidFill>
                  <a:srgbClr val="ECEAF4"/>
                </a:solidFill>
                <a:latin typeface="Georgia"/>
              </a:rPr>
              <a:t>02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6851" y="1428750"/>
            <a:ext cx="8090296" cy="705445"/>
          </a:xfrm>
          <a:prstGeom prst="roundRect">
            <a:avLst>
              <a:gd name="adj" fmla="val 7000"/>
            </a:avLst>
          </a:prstGeom>
          <a:solidFill>
            <a:srgbClr val="F4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78656" y="1526976"/>
            <a:ext cx="7768828" cy="58042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6C3FC4"/>
                </a:solidFill>
                <a:latin typeface="Calibri"/>
              </a:rPr>
              <a:t>What is our proposed solution?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181522"/>
                </a:solidFill>
                <a:latin typeface="Calibri"/>
              </a:rPr>
              <a:t>A deterministic, rule-based engine that scores every candidate across five recruiter dimensions, defends against planted profiles, and outputs an auditable top-100 — in 31 seconds, with zero dependencies.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26851" y="2214562"/>
            <a:ext cx="3964781" cy="2062757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78656" y="2330648"/>
            <a:ext cx="3661171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B3AD8"/>
                </a:solidFill>
                <a:latin typeface="Calibri"/>
              </a:rPr>
              <a:t>WHAT WE BUILT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8656" y="2553890"/>
            <a:ext cx="3661171" cy="161627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37744" indent="-237744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2B3AD8"/>
                </a:solidFill>
                <a:latin typeface="Calibri"/>
              </a:rPr>
              <a:t>•   </a:t>
            </a:r>
            <a:r>
              <a:rPr sz="1150" b="0" i="0">
                <a:solidFill>
                  <a:srgbClr val="4E4A5C"/>
                </a:solidFill>
                <a:latin typeface="Calibri"/>
              </a:rPr>
              <a:t>Scores 100K profiles across five weighted, JD-derived dimensions.</a:t>
            </a:r>
          </a:p>
          <a:p>
            <a:pPr algn="l" marL="237744" indent="-237744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2B3AD8"/>
                </a:solidFill>
                <a:latin typeface="Calibri"/>
              </a:rPr>
              <a:t>•   </a:t>
            </a:r>
            <a:r>
              <a:rPr sz="1150" b="0" i="0">
                <a:solidFill>
                  <a:srgbClr val="4E4A5C"/>
                </a:solidFill>
                <a:latin typeface="Calibri"/>
              </a:rPr>
              <a:t>Pure Python standard library — no GPU, no network, no model downloads.</a:t>
            </a:r>
          </a:p>
          <a:p>
            <a:pPr algn="l" marL="237744" indent="-237744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2B3AD8"/>
                </a:solidFill>
                <a:latin typeface="Calibri"/>
              </a:rPr>
              <a:t>•   </a:t>
            </a:r>
            <a:r>
              <a:rPr sz="1150" b="0" i="0">
                <a:solidFill>
                  <a:srgbClr val="4E4A5C"/>
                </a:solidFill>
                <a:latin typeface="Calibri"/>
              </a:rPr>
              <a:t>Emits a validated top-100 CSV with per-candidate reasoning.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652367" y="2214562"/>
            <a:ext cx="3964781" cy="2062757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804171" y="2330648"/>
            <a:ext cx="3661171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D32F6E"/>
                </a:solidFill>
                <a:latin typeface="Calibri"/>
              </a:rPr>
              <a:t>WHAT MAKES IT DIFFERENT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4171" y="2553890"/>
            <a:ext cx="3661171" cy="161627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37744" indent="-237744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D32F6E"/>
                </a:solidFill>
                <a:latin typeface="Calibri"/>
              </a:rPr>
              <a:t>•   </a:t>
            </a:r>
            <a:r>
              <a:rPr sz="1150" b="0" i="0">
                <a:solidFill>
                  <a:srgbClr val="4E4A5C"/>
                </a:solidFill>
                <a:latin typeface="Calibri"/>
              </a:rPr>
              <a:t>Career descriptions are ground truth; skills are cross-validated against them — keyword-stuffers collapse.</a:t>
            </a:r>
          </a:p>
          <a:p>
            <a:pPr algn="l" marL="237744" indent="-237744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D32F6E"/>
                </a:solidFill>
                <a:latin typeface="Calibri"/>
              </a:rPr>
              <a:t>•   </a:t>
            </a:r>
            <a:r>
              <a:rPr sz="1150" b="0" i="0">
                <a:solidFill>
                  <a:srgbClr val="4E4A5C"/>
                </a:solidFill>
                <a:latin typeface="Calibri"/>
              </a:rPr>
              <a:t>Built-in honeypot defense flags internally impossible profiles.</a:t>
            </a:r>
          </a:p>
          <a:p>
            <a:pPr algn="l" marL="237744" indent="-237744">
              <a:lnSpc>
                <a:spcPct val="104000"/>
              </a:lnSpc>
              <a:spcAft>
                <a:spcPts val="1000"/>
              </a:spcAft>
            </a:pPr>
            <a:r>
              <a:rPr sz="1150" b="1" i="0">
                <a:solidFill>
                  <a:srgbClr val="D32F6E"/>
                </a:solidFill>
                <a:latin typeface="Calibri"/>
              </a:rPr>
              <a:t>•   </a:t>
            </a:r>
            <a:r>
              <a:rPr sz="1150" b="0" i="0">
                <a:solidFill>
                  <a:srgbClr val="4E4A5C"/>
                </a:solidFill>
                <a:latin typeface="Calibri"/>
              </a:rPr>
              <a:t>Identical input yields byte-identical output — fully reproducible.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TextBox 69"/>
          <p:cNvSpPr txBox="1"/>
          <p:nvPr/>
        </p:nvSpPr>
        <p:spPr>
          <a:xfrm>
            <a:off x="526851" y="669726"/>
            <a:ext cx="7322343" cy="2500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6C3FC4"/>
                </a:solidFill>
                <a:latin typeface="Calibri"/>
              </a:rPr>
              <a:t>JD UNDERSTANDING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7921" y="875109"/>
            <a:ext cx="7858125" cy="58042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81522"/>
                </a:solidFill>
                <a:latin typeface="Georgia"/>
              </a:rPr>
              <a:t>From job description to relevance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22343" y="535781"/>
            <a:ext cx="1294804" cy="66972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4400" b="1" i="0">
                <a:solidFill>
                  <a:srgbClr val="ECEAF4"/>
                </a:solidFill>
                <a:latin typeface="Georgia"/>
              </a:rPr>
              <a:t>03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26851" y="1437679"/>
            <a:ext cx="3964781" cy="2527101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526851" y="1437679"/>
            <a:ext cx="3964781" cy="35718"/>
          </a:xfrm>
          <a:prstGeom prst="rect">
            <a:avLst/>
          </a:prstGeom>
          <a:solidFill>
            <a:srgbClr val="6C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678656" y="1553765"/>
            <a:ext cx="3661171" cy="1607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1" i="0">
                <a:solidFill>
                  <a:srgbClr val="6C3FC4"/>
                </a:solidFill>
                <a:latin typeface="Calibri"/>
              </a:rPr>
              <a:t>REQUIREMENTS EXTRACTED FROM THE JD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8656" y="1750218"/>
            <a:ext cx="3661171" cy="133945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37744" indent="-237744">
              <a:lnSpc>
                <a:spcPct val="104000"/>
              </a:lnSpc>
              <a:spcAft>
                <a:spcPts val="700"/>
              </a:spcAft>
            </a:pPr>
            <a:r>
              <a:rPr sz="1150" b="1" i="0">
                <a:solidFill>
                  <a:srgbClr val="6C3FC4"/>
                </a:solidFill>
                <a:latin typeface="Calibri"/>
              </a:rPr>
              <a:t>•   </a:t>
            </a:r>
            <a:r>
              <a:rPr sz="1150" b="0" i="0">
                <a:solidFill>
                  <a:srgbClr val="4E4A5C"/>
                </a:solidFill>
                <a:latin typeface="Calibri"/>
              </a:rPr>
              <a:t>Senior AI/ML engineer — retrieval, ranking &amp; recommendation systems.</a:t>
            </a:r>
          </a:p>
          <a:p>
            <a:pPr algn="l" marL="237744" indent="-237744">
              <a:lnSpc>
                <a:spcPct val="104000"/>
              </a:lnSpc>
              <a:spcAft>
                <a:spcPts val="700"/>
              </a:spcAft>
            </a:pPr>
            <a:r>
              <a:rPr sz="1150" b="1" i="0">
                <a:solidFill>
                  <a:srgbClr val="6C3FC4"/>
                </a:solidFill>
                <a:latin typeface="Calibri"/>
              </a:rPr>
              <a:t>•   </a:t>
            </a:r>
            <a:r>
              <a:rPr sz="1150" b="0" i="0">
                <a:solidFill>
                  <a:srgbClr val="4E4A5C"/>
                </a:solidFill>
                <a:latin typeface="Calibri"/>
              </a:rPr>
              <a:t>6–8+ yrs with production ML deployment and strong coding.</a:t>
            </a:r>
          </a:p>
          <a:p>
            <a:pPr algn="l" marL="237744" indent="-237744">
              <a:lnSpc>
                <a:spcPct val="104000"/>
              </a:lnSpc>
              <a:spcAft>
                <a:spcPts val="700"/>
              </a:spcAft>
            </a:pPr>
            <a:r>
              <a:rPr sz="1150" b="1" i="0">
                <a:solidFill>
                  <a:srgbClr val="6C3FC4"/>
                </a:solidFill>
                <a:latin typeface="Calibri"/>
              </a:rPr>
              <a:t>•   </a:t>
            </a:r>
            <a:r>
              <a:rPr sz="1150" b="0" i="0">
                <a:solidFill>
                  <a:srgbClr val="4E4A5C"/>
                </a:solidFill>
                <a:latin typeface="Calibri"/>
              </a:rPr>
              <a:t>Depth in NLP, search and vector retrieval.</a:t>
            </a:r>
          </a:p>
          <a:p>
            <a:pPr algn="l" marL="237744" indent="-237744">
              <a:lnSpc>
                <a:spcPct val="104000"/>
              </a:lnSpc>
              <a:spcAft>
                <a:spcPts val="700"/>
              </a:spcAft>
            </a:pPr>
            <a:r>
              <a:rPr sz="1150" b="1" i="0">
                <a:solidFill>
                  <a:srgbClr val="6C3FC4"/>
                </a:solidFill>
                <a:latin typeface="Calibri"/>
              </a:rPr>
              <a:t>•   </a:t>
            </a:r>
            <a:r>
              <a:rPr sz="1150" b="0" i="0">
                <a:solidFill>
                  <a:srgbClr val="4E4A5C"/>
                </a:solidFill>
                <a:latin typeface="Calibri"/>
              </a:rPr>
              <a:t>Location preference: Pune / Noida.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4007" y="3089671"/>
            <a:ext cx="3750468" cy="785812"/>
          </a:xfrm>
          <a:prstGeom prst="roundRect">
            <a:avLst>
              <a:gd name="adj" fmla="val 8000"/>
            </a:avLst>
          </a:prstGeom>
          <a:solidFill>
            <a:srgbClr val="FDF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750093" y="3178968"/>
            <a:ext cx="3536156" cy="62507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D32F6E"/>
                </a:solidFill>
                <a:latin typeface="Calibri"/>
              </a:rPr>
              <a:t>STATED DISQUALIFIERS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A4A4A"/>
                </a:solidFill>
                <a:latin typeface="Calibri"/>
              </a:rPr>
              <a:t>Non-technical roles · consulting-only careers · research without production · CV / speech specialists without NLP crossover · ghost candidates.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652367" y="1437679"/>
            <a:ext cx="3964781" cy="2527101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4652367" y="1437679"/>
            <a:ext cx="3964781" cy="35718"/>
          </a:xfrm>
          <a:prstGeom prst="rect">
            <a:avLst/>
          </a:prstGeom>
          <a:solidFill>
            <a:srgbClr val="D32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804171" y="1553765"/>
            <a:ext cx="3661171" cy="1607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1" i="0">
                <a:solidFill>
                  <a:srgbClr val="D32F6E"/>
                </a:solidFill>
                <a:latin typeface="Calibri"/>
              </a:rPr>
              <a:t>SIGNALS THAT MOST DETERMINE RELEVANCE</a:t>
            </a:r>
          </a:p>
        </p:txBody>
      </p:sp>
      <p:sp>
        <p:nvSpPr>
          <p:cNvPr id="82" name="Oval 81"/>
          <p:cNvSpPr/>
          <p:nvPr/>
        </p:nvSpPr>
        <p:spPr>
          <a:xfrm>
            <a:off x="4804171" y="1794867"/>
            <a:ext cx="151804" cy="151804"/>
          </a:xfrm>
          <a:prstGeom prst="ellipse">
            <a:avLst/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4804171" y="1790402"/>
            <a:ext cx="151804" cy="1518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B3AD8"/>
                </a:solidFill>
                <a:latin typeface="Calibri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7414" y="1777007"/>
            <a:ext cx="3429000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81522"/>
                </a:solidFill>
                <a:latin typeface="Calibri"/>
              </a:rPr>
              <a:t>Career-description evidence</a:t>
            </a:r>
          </a:p>
          <a:p>
            <a:pPr algn="l"/>
            <a:r>
              <a:rPr sz="1050" b="0" i="0">
                <a:solidFill>
                  <a:srgbClr val="847E92"/>
                </a:solidFill>
                <a:latin typeface="Calibri"/>
              </a:rPr>
              <a:t>the single hardest signal to fake</a:t>
            </a:r>
          </a:p>
        </p:txBody>
      </p:sp>
      <p:sp>
        <p:nvSpPr>
          <p:cNvPr id="85" name="Oval 84"/>
          <p:cNvSpPr/>
          <p:nvPr/>
        </p:nvSpPr>
        <p:spPr>
          <a:xfrm>
            <a:off x="4804171" y="2178843"/>
            <a:ext cx="151804" cy="151804"/>
          </a:xfrm>
          <a:prstGeom prst="ellipse">
            <a:avLst/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4804171" y="2174378"/>
            <a:ext cx="151804" cy="1518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B3AD8"/>
                </a:solidFill>
                <a:latin typeface="Calibri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27414" y="2160984"/>
            <a:ext cx="3429000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81522"/>
                </a:solidFill>
                <a:latin typeface="Calibri"/>
              </a:rPr>
              <a:t>Role &amp; title trajectory</a:t>
            </a:r>
          </a:p>
          <a:p>
            <a:pPr algn="l"/>
            <a:r>
              <a:rPr sz="1050" b="0" i="0">
                <a:solidFill>
                  <a:srgbClr val="847E92"/>
                </a:solidFill>
                <a:latin typeface="Calibri"/>
              </a:rPr>
              <a:t>current title + career peak, recency-weighted</a:t>
            </a:r>
          </a:p>
        </p:txBody>
      </p:sp>
      <p:sp>
        <p:nvSpPr>
          <p:cNvPr id="88" name="Oval 87"/>
          <p:cNvSpPr/>
          <p:nvPr/>
        </p:nvSpPr>
        <p:spPr>
          <a:xfrm>
            <a:off x="4804171" y="2562820"/>
            <a:ext cx="151804" cy="151804"/>
          </a:xfrm>
          <a:prstGeom prst="ellipse">
            <a:avLst/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804171" y="2558355"/>
            <a:ext cx="151804" cy="1518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B3AD8"/>
                </a:solidFill>
                <a:latin typeface="Calibri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7414" y="2544960"/>
            <a:ext cx="3429000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81522"/>
                </a:solidFill>
                <a:latin typeface="Calibri"/>
              </a:rPr>
              <a:t>Production-deployment proof</a:t>
            </a:r>
          </a:p>
          <a:p>
            <a:pPr algn="l"/>
            <a:r>
              <a:rPr sz="1050" b="0" i="0">
                <a:solidFill>
                  <a:srgbClr val="847E92"/>
                </a:solidFill>
                <a:latin typeface="Calibri"/>
              </a:rPr>
              <a:t>shipped systems, not just research</a:t>
            </a:r>
          </a:p>
        </p:txBody>
      </p:sp>
      <p:sp>
        <p:nvSpPr>
          <p:cNvPr id="91" name="Oval 90"/>
          <p:cNvSpPr/>
          <p:nvPr/>
        </p:nvSpPr>
        <p:spPr>
          <a:xfrm>
            <a:off x="4804171" y="2946796"/>
            <a:ext cx="151804" cy="151804"/>
          </a:xfrm>
          <a:prstGeom prst="ellipse">
            <a:avLst/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4804171" y="2942332"/>
            <a:ext cx="151804" cy="1518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B3AD8"/>
                </a:solidFill>
                <a:latin typeface="Calibri"/>
              </a:rP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027414" y="2928937"/>
            <a:ext cx="3429000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81522"/>
                </a:solidFill>
                <a:latin typeface="Calibri"/>
              </a:rPr>
              <a:t>Company quality &amp; tenure</a:t>
            </a:r>
          </a:p>
          <a:p>
            <a:pPr algn="l"/>
            <a:r>
              <a:rPr sz="1050" b="0" i="0">
                <a:solidFill>
                  <a:srgbClr val="847E92"/>
                </a:solidFill>
                <a:latin typeface="Calibri"/>
              </a:rPr>
              <a:t>product companies, stability over hopping</a:t>
            </a:r>
          </a:p>
        </p:txBody>
      </p:sp>
      <p:sp>
        <p:nvSpPr>
          <p:cNvPr id="94" name="Oval 93"/>
          <p:cNvSpPr/>
          <p:nvPr/>
        </p:nvSpPr>
        <p:spPr>
          <a:xfrm>
            <a:off x="4804171" y="3330773"/>
            <a:ext cx="151804" cy="151804"/>
          </a:xfrm>
          <a:prstGeom prst="ellipse">
            <a:avLst/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4804171" y="3326308"/>
            <a:ext cx="151804" cy="1518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B3AD8"/>
                </a:solidFill>
                <a:latin typeface="Calibri"/>
              </a:rP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7414" y="3312914"/>
            <a:ext cx="3429000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81522"/>
                </a:solidFill>
                <a:latin typeface="Calibri"/>
              </a:rPr>
              <a:t>Availability &amp; responsiveness</a:t>
            </a:r>
          </a:p>
          <a:p>
            <a:pPr algn="l"/>
            <a:r>
              <a:rPr sz="1050" b="0" i="0">
                <a:solidFill>
                  <a:srgbClr val="847E92"/>
                </a:solidFill>
                <a:latin typeface="Calibri"/>
              </a:rPr>
              <a:t>open-to-work, notice period, response 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TextBox 76"/>
          <p:cNvSpPr txBox="1"/>
          <p:nvPr/>
        </p:nvSpPr>
        <p:spPr>
          <a:xfrm>
            <a:off x="526851" y="669726"/>
            <a:ext cx="7322343" cy="2500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6C3FC4"/>
                </a:solidFill>
                <a:latin typeface="Calibri"/>
              </a:rPr>
              <a:t>RANKING METHODOLOGY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7921" y="875109"/>
            <a:ext cx="7858125" cy="58042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81522"/>
                </a:solidFill>
                <a:latin typeface="Georgia"/>
              </a:rPr>
              <a:t>Retrieve, score, rank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22343" y="535781"/>
            <a:ext cx="1294804" cy="66972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4400" b="1" i="0">
                <a:solidFill>
                  <a:srgbClr val="ECEAF4"/>
                </a:solidFill>
                <a:latin typeface="Georgia"/>
              </a:rPr>
              <a:t>04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6851" y="1455539"/>
            <a:ext cx="4464843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50" b="1" i="0">
                <a:solidFill>
                  <a:srgbClr val="6C3FC4"/>
                </a:solidFill>
                <a:latin typeface="Calibri"/>
              </a:rPr>
              <a:t>FIVE WEIGHTED COMPONENTS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26851" y="1678781"/>
            <a:ext cx="2238494" cy="410765"/>
          </a:xfrm>
          <a:prstGeom prst="rect">
            <a:avLst/>
          </a:prstGeom>
          <a:solidFill>
            <a:srgbClr val="6C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526851" y="1741289"/>
            <a:ext cx="2238494" cy="303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28%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Technical Depth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92134" y="1678781"/>
            <a:ext cx="1995785" cy="410765"/>
          </a:xfrm>
          <a:prstGeom prst="rect">
            <a:avLst/>
          </a:prstGeom>
          <a:solidFill>
            <a:srgbClr val="2B3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2792134" y="1741289"/>
            <a:ext cx="1995785" cy="303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25%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Title Relevance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814708" y="1678781"/>
            <a:ext cx="1591270" cy="410765"/>
          </a:xfrm>
          <a:prstGeom prst="rect">
            <a:avLst/>
          </a:prstGeom>
          <a:solidFill>
            <a:srgbClr val="3D8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4814708" y="1741289"/>
            <a:ext cx="1591270" cy="303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20%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Career Quality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32768" y="1678781"/>
            <a:ext cx="1348561" cy="410765"/>
          </a:xfrm>
          <a:prstGeom prst="rect">
            <a:avLst/>
          </a:prstGeom>
          <a:solidFill>
            <a:srgbClr val="E0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432768" y="1741289"/>
            <a:ext cx="1348561" cy="303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17%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Experience Fit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808118" y="1678781"/>
            <a:ext cx="809029" cy="410765"/>
          </a:xfrm>
          <a:prstGeom prst="rect">
            <a:avLst/>
          </a:prstGeom>
          <a:solidFill>
            <a:srgbClr val="D32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7808118" y="1741289"/>
            <a:ext cx="809029" cy="303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10%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Availability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6851" y="2152054"/>
            <a:ext cx="8090296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4E4A5C"/>
                </a:solidFill>
                <a:latin typeface="Calibri"/>
              </a:rPr>
              <a:t>Skills are self-reported, so each is cross-validated against career text before it can lift a score.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26851" y="2411015"/>
            <a:ext cx="8090296" cy="482203"/>
          </a:xfrm>
          <a:prstGeom prst="roundRect">
            <a:avLst>
              <a:gd name="adj" fmla="val 10000"/>
            </a:avLst>
          </a:prstGeom>
          <a:solidFill>
            <a:srgbClr val="18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05445" y="2509242"/>
            <a:ext cx="7768828" cy="1250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B4AAD8"/>
                </a:solidFill>
                <a:latin typeface="Calibri"/>
              </a:rPr>
              <a:t>FINAL SCORE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5445" y="2643187"/>
            <a:ext cx="7768828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1" i="0">
                <a:solidFill>
                  <a:srgbClr val="7C4DFF"/>
                </a:solidFill>
                <a:latin typeface="Georgia"/>
              </a:rPr>
              <a:t>base</a:t>
            </a:r>
            <a:r>
              <a:rPr sz="1400" b="0" i="0">
                <a:solidFill>
                  <a:srgbClr val="847E92"/>
                </a:solidFill>
                <a:latin typeface="Calibri"/>
              </a:rPr>
              <a:t>   ×   </a:t>
            </a:r>
            <a:r>
              <a:rPr sz="1500" b="1" i="0">
                <a:solidFill>
                  <a:srgbClr val="6E8BF0"/>
                </a:solidFill>
                <a:latin typeface="Georgia"/>
              </a:rPr>
              <a:t>(0.70 + 0.30 · location)</a:t>
            </a:r>
            <a:r>
              <a:rPr sz="1400" b="0" i="0">
                <a:solidFill>
                  <a:srgbClr val="847E92"/>
                </a:solidFill>
                <a:latin typeface="Calibri"/>
              </a:rPr>
              <a:t>   ×   </a:t>
            </a:r>
            <a:r>
              <a:rPr sz="1500" b="1" i="0">
                <a:solidFill>
                  <a:srgbClr val="E07A28"/>
                </a:solidFill>
                <a:latin typeface="Georgia"/>
              </a:rPr>
              <a:t>penalty</a:t>
            </a:r>
            <a:r>
              <a:rPr sz="1500" b="1" i="0">
                <a:solidFill>
                  <a:srgbClr val="D32F6E"/>
                </a:solidFill>
                <a:latin typeface="Georgia"/>
              </a:rPr>
              <a:t>          honeypot flag  ×0.02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26851" y="3045023"/>
            <a:ext cx="2607468" cy="1053703"/>
          </a:xfrm>
          <a:prstGeom prst="roundRect">
            <a:avLst>
              <a:gd name="adj" fmla="val 7000"/>
            </a:avLst>
          </a:prstGeom>
          <a:solidFill>
            <a:srgbClr val="F4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42937" y="3152179"/>
            <a:ext cx="2375296" cy="857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6C3FC4"/>
                </a:solidFill>
                <a:latin typeface="Calibri"/>
              </a:rPr>
              <a:t>Heuristics, not a black box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E4A5C"/>
                </a:solidFill>
                <a:latin typeface="Calibri"/>
              </a:rPr>
              <a:t>Word-boundary keyword matching, a four-tier title taxonomy, an experience curve peaking at 6–8 years.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68265" y="3045023"/>
            <a:ext cx="2607468" cy="1053703"/>
          </a:xfrm>
          <a:prstGeom prst="roundRect">
            <a:avLst>
              <a:gd name="adj" fmla="val 7000"/>
            </a:avLst>
          </a:prstGeom>
          <a:solidFill>
            <a:srgbClr val="FDF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384351" y="3152179"/>
            <a:ext cx="2375296" cy="857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E07A28"/>
                </a:solidFill>
                <a:latin typeface="Calibri"/>
              </a:rPr>
              <a:t>Penalties stack multiplicatively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E4A5C"/>
                </a:solidFill>
                <a:latin typeface="Calibri"/>
              </a:rPr>
              <a:t>Each JD-stated disqualifier compounds, so weak profiles fall fast rather than averaging out.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009679" y="3045023"/>
            <a:ext cx="2607468" cy="1053703"/>
          </a:xfrm>
          <a:prstGeom prst="roundRect">
            <a:avLst>
              <a:gd name="adj" fmla="val 7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6125765" y="3152179"/>
            <a:ext cx="2375296" cy="8572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2B3AD8"/>
                </a:solidFill>
                <a:latin typeface="Calibri"/>
              </a:rPr>
              <a:t>Deterministic tie-break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E4A5C"/>
                </a:solidFill>
                <a:latin typeface="Calibri"/>
              </a:rPr>
              <a:t>Equal scores are ordered by candidate_id ascending — exactly as the spec requires.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TextBox 83"/>
          <p:cNvSpPr txBox="1"/>
          <p:nvPr/>
        </p:nvSpPr>
        <p:spPr>
          <a:xfrm>
            <a:off x="526851" y="669726"/>
            <a:ext cx="7322343" cy="2500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6C3FC4"/>
                </a:solidFill>
                <a:latin typeface="Calibri"/>
              </a:rPr>
              <a:t>EXPLAINABILITY &amp; DATA VALIDATION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7921" y="875109"/>
            <a:ext cx="7858125" cy="58042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81522"/>
                </a:solidFill>
                <a:latin typeface="Georgia"/>
              </a:rPr>
              <a:t>Trustworthy, and impossible to game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22343" y="535781"/>
            <a:ext cx="1294804" cy="66972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4400" b="1" i="0">
                <a:solidFill>
                  <a:srgbClr val="ECEAF4"/>
                </a:solidFill>
                <a:latin typeface="Georgia"/>
              </a:rPr>
              <a:t>05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26851" y="1437679"/>
            <a:ext cx="3236118" cy="2232421"/>
          </a:xfrm>
          <a:prstGeom prst="roundRect">
            <a:avLst>
              <a:gd name="adj" fmla="val 6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78656" y="1544835"/>
            <a:ext cx="2932509" cy="1607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B3AD8"/>
                </a:solidFill>
                <a:latin typeface="Calibri"/>
              </a:rPr>
              <a:t>EXPLAINABILITY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8656" y="1759148"/>
            <a:ext cx="2932509" cy="18037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37744" indent="-237744">
              <a:lnSpc>
                <a:spcPct val="104000"/>
              </a:lnSpc>
              <a:spcAft>
                <a:spcPts val="900"/>
              </a:spcAft>
            </a:pPr>
            <a:r>
              <a:rPr sz="1050" b="1" i="0">
                <a:solidFill>
                  <a:srgbClr val="2B3AD8"/>
                </a:solidFill>
                <a:latin typeface="Calibri"/>
              </a:rPr>
              <a:t>•   </a:t>
            </a:r>
            <a:r>
              <a:rPr sz="1050" b="0" i="0">
                <a:solidFill>
                  <a:srgbClr val="4E4A5C"/>
                </a:solidFill>
                <a:latin typeface="Calibri"/>
              </a:rPr>
              <a:t>Every row carries a 1–2 sentence justification built only from facts in that profile.</a:t>
            </a:r>
          </a:p>
          <a:p>
            <a:pPr algn="l" marL="237744" indent="-237744">
              <a:lnSpc>
                <a:spcPct val="104000"/>
              </a:lnSpc>
              <a:spcAft>
                <a:spcPts val="900"/>
              </a:spcAft>
            </a:pPr>
            <a:r>
              <a:rPr sz="1050" b="1" i="0">
                <a:solidFill>
                  <a:srgbClr val="2B3AD8"/>
                </a:solidFill>
                <a:latin typeface="Calibri"/>
              </a:rPr>
              <a:t>•   </a:t>
            </a:r>
            <a:r>
              <a:rPr sz="1050" b="0" i="0">
                <a:solidFill>
                  <a:srgbClr val="4E4A5C"/>
                </a:solidFill>
                <a:latin typeface="Calibri"/>
              </a:rPr>
              <a:t>Honest concerns surfaced: long notice, low response rate, off-preference location.</a:t>
            </a:r>
          </a:p>
          <a:p>
            <a:pPr algn="l" marL="237744" indent="-237744">
              <a:lnSpc>
                <a:spcPct val="104000"/>
              </a:lnSpc>
              <a:spcAft>
                <a:spcPts val="900"/>
              </a:spcAft>
            </a:pPr>
            <a:r>
              <a:rPr sz="1050" b="1" i="0">
                <a:solidFill>
                  <a:srgbClr val="2B3AD8"/>
                </a:solidFill>
                <a:latin typeface="Calibri"/>
              </a:rPr>
              <a:t>•   </a:t>
            </a:r>
            <a:r>
              <a:rPr sz="1050" b="0" i="0">
                <a:solidFill>
                  <a:srgbClr val="4E4A5C"/>
                </a:solidFill>
                <a:latin typeface="Calibri"/>
              </a:rPr>
              <a:t>Phrasing varies by rank band — never templated, never repetitive.</a:t>
            </a:r>
          </a:p>
          <a:p>
            <a:pPr algn="l" marL="237744" indent="-237744">
              <a:lnSpc>
                <a:spcPct val="104000"/>
              </a:lnSpc>
              <a:spcAft>
                <a:spcPts val="900"/>
              </a:spcAft>
            </a:pPr>
            <a:r>
              <a:rPr sz="1050" b="1" i="0">
                <a:solidFill>
                  <a:srgbClr val="2B3AD8"/>
                </a:solidFill>
                <a:latin typeface="Calibri"/>
              </a:rPr>
              <a:t>•   </a:t>
            </a:r>
            <a:r>
              <a:rPr sz="1050" b="0" i="0">
                <a:solidFill>
                  <a:srgbClr val="4E4A5C"/>
                </a:solidFill>
                <a:latin typeface="Calibri"/>
              </a:rPr>
              <a:t>Zero hallucinated skills: each string is regex-verified against the profile.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23704" y="1446609"/>
            <a:ext cx="4693443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D32F6E"/>
                </a:solidFill>
                <a:latin typeface="Calibri"/>
              </a:rPr>
              <a:t>HONEYPOT DEFENSE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23704" y="1598414"/>
            <a:ext cx="4693443" cy="1250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4E4A5C"/>
                </a:solidFill>
                <a:latin typeface="Calibri"/>
              </a:rPr>
              <a:t>Every profile is verified against itself.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923704" y="1785937"/>
            <a:ext cx="2288678" cy="669726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4030860" y="1902023"/>
            <a:ext cx="62507" cy="62507"/>
          </a:xfrm>
          <a:prstGeom prst="ellipse">
            <a:avLst/>
          </a:prstGeom>
          <a:solidFill>
            <a:srgbClr val="6C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146946" y="1875234"/>
            <a:ext cx="1976139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81522"/>
                </a:solidFill>
                <a:latin typeface="Calibri"/>
              </a:rPr>
              <a:t>Date arithmetic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30860" y="2053828"/>
            <a:ext cx="2074366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4E4A5C"/>
                </a:solidFill>
                <a:latin typeface="Calibri"/>
              </a:rPr>
              <a:t>A role's claimed duration contradicts its own start/end dates.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328469" y="1785937"/>
            <a:ext cx="2288678" cy="669726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6435625" y="1902023"/>
            <a:ext cx="62507" cy="62507"/>
          </a:xfrm>
          <a:prstGeom prst="ellipse">
            <a:avLst/>
          </a:prstGeom>
          <a:solidFill>
            <a:srgbClr val="2B3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551711" y="1875234"/>
            <a:ext cx="1976139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81522"/>
                </a:solidFill>
                <a:latin typeface="Calibri"/>
              </a:rPr>
              <a:t>Expert, zero use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35625" y="2053828"/>
            <a:ext cx="2074366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4E4A5C"/>
                </a:solidFill>
                <a:latin typeface="Calibri"/>
              </a:rPr>
              <a:t>3+ skills at expert proficiency with 0 months of usage.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923704" y="2571750"/>
            <a:ext cx="2288678" cy="669726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4030860" y="2687835"/>
            <a:ext cx="62507" cy="62507"/>
          </a:xfrm>
          <a:prstGeom prst="ellipse">
            <a:avLst/>
          </a:prstGeom>
          <a:solidFill>
            <a:srgbClr val="E0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4146946" y="2661046"/>
            <a:ext cx="1976139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81522"/>
                </a:solidFill>
                <a:latin typeface="Calibri"/>
              </a:rPr>
              <a:t>Experience span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30860" y="2839640"/>
            <a:ext cx="2074366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4E4A5C"/>
                </a:solidFill>
                <a:latin typeface="Calibri"/>
              </a:rPr>
              <a:t>Stated years exceed the entire career history by 2+ years.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328469" y="2571750"/>
            <a:ext cx="2288678" cy="669726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6435625" y="2687835"/>
            <a:ext cx="62507" cy="62507"/>
          </a:xfrm>
          <a:prstGeom prst="ellipse">
            <a:avLst/>
          </a:prstGeom>
          <a:solidFill>
            <a:srgbClr val="D32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6551711" y="2661046"/>
            <a:ext cx="1976139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81522"/>
                </a:solidFill>
                <a:latin typeface="Calibri"/>
              </a:rPr>
              <a:t>Tech anachronism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35625" y="2839640"/>
            <a:ext cx="2074366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4E4A5C"/>
                </a:solidFill>
                <a:latin typeface="Calibri"/>
              </a:rPr>
              <a:t>Skill durations predate the technology's public release.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923704" y="3687960"/>
            <a:ext cx="4693443" cy="366117"/>
          </a:xfrm>
          <a:prstGeom prst="roundRect">
            <a:avLst>
              <a:gd name="adj" fmla="val 12000"/>
            </a:avLst>
          </a:prstGeom>
          <a:solidFill>
            <a:srgbClr val="18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4075509" y="3687960"/>
            <a:ext cx="580429" cy="36611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600" b="1" i="0">
                <a:solidFill>
                  <a:srgbClr val="E07A28"/>
                </a:solidFill>
                <a:latin typeface="Georgia"/>
              </a:rPr>
              <a:t>141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93431" y="3759398"/>
            <a:ext cx="3889771" cy="2678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profiles flagged pool-wide</a:t>
            </a:r>
          </a:p>
          <a:p>
            <a:pPr algn="l"/>
            <a:r>
              <a:rPr sz="1050" b="0" i="0">
                <a:solidFill>
                  <a:srgbClr val="B4AAD8"/>
                </a:solidFill>
                <a:latin typeface="Calibri"/>
              </a:rPr>
              <a:t>0 reached the submitted top-100  ·  DQ threshold is 10%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TextBox 90"/>
          <p:cNvSpPr txBox="1"/>
          <p:nvPr/>
        </p:nvSpPr>
        <p:spPr>
          <a:xfrm>
            <a:off x="526851" y="669726"/>
            <a:ext cx="7322343" cy="2500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6C3FC4"/>
                </a:solidFill>
                <a:latin typeface="Calibri"/>
              </a:rPr>
              <a:t>END-TO-END WORKFLOW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7921" y="875109"/>
            <a:ext cx="7858125" cy="58042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81522"/>
                </a:solidFill>
                <a:latin typeface="Georgia"/>
              </a:rPr>
              <a:t>From JD input to ranked output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22343" y="535781"/>
            <a:ext cx="1294804" cy="66972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4400" b="1" i="0">
                <a:solidFill>
                  <a:srgbClr val="ECEAF4"/>
                </a:solidFill>
                <a:latin typeface="Georgia"/>
              </a:rPr>
              <a:t>06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26851" y="1919882"/>
            <a:ext cx="1236761" cy="1339453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526851" y="1919882"/>
            <a:ext cx="1236761" cy="35718"/>
          </a:xfrm>
          <a:prstGeom prst="rect">
            <a:avLst/>
          </a:prstGeom>
          <a:solidFill>
            <a:srgbClr val="6C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1029146" y="2071687"/>
            <a:ext cx="232171" cy="232171"/>
          </a:xfrm>
          <a:prstGeom prst="ellipse">
            <a:avLst/>
          </a:prstGeom>
          <a:solidFill>
            <a:srgbClr val="6C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029146" y="2071687"/>
            <a:ext cx="232171" cy="23217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570" y="2384226"/>
            <a:ext cx="1165324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181522"/>
                </a:solidFill>
                <a:latin typeface="Calibri"/>
              </a:rPr>
              <a:t>JD</a:t>
            </a:r>
          </a:p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181522"/>
                </a:solidFill>
                <a:latin typeface="Calibri"/>
              </a:rPr>
              <a:t>Requirements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44710" y="2714625"/>
            <a:ext cx="1201042" cy="4018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47E92"/>
                </a:solidFill>
                <a:latin typeface="Calibri"/>
              </a:rPr>
              <a:t>extract must-haves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47E92"/>
                </a:solidFill>
                <a:latin typeface="Calibri"/>
              </a:rPr>
              <a:t>&amp; disqualifiers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1781472" y="2549425"/>
            <a:ext cx="98226" cy="80367"/>
          </a:xfrm>
          <a:prstGeom prst="rightArrow">
            <a:avLst/>
          </a:prstGeom>
          <a:solidFill>
            <a:srgbClr val="B0A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ounded Rectangle 100"/>
          <p:cNvSpPr/>
          <p:nvPr/>
        </p:nvSpPr>
        <p:spPr>
          <a:xfrm>
            <a:off x="1897558" y="1919882"/>
            <a:ext cx="1236761" cy="1339453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1897558" y="1919882"/>
            <a:ext cx="1236761" cy="35718"/>
          </a:xfrm>
          <a:prstGeom prst="rect">
            <a:avLst/>
          </a:prstGeom>
          <a:solidFill>
            <a:srgbClr val="2B3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2399853" y="2071687"/>
            <a:ext cx="232171" cy="232171"/>
          </a:xfrm>
          <a:prstGeom prst="ellipse">
            <a:avLst/>
          </a:prstGeom>
          <a:solidFill>
            <a:srgbClr val="2B3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2399853" y="2071687"/>
            <a:ext cx="232171" cy="23217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933277" y="2384226"/>
            <a:ext cx="1165324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181522"/>
                </a:solidFill>
                <a:latin typeface="Calibri"/>
              </a:rPr>
              <a:t>Parse 100K</a:t>
            </a:r>
          </a:p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181522"/>
                </a:solidFill>
                <a:latin typeface="Calibri"/>
              </a:rPr>
              <a:t>Profiles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15417" y="2714625"/>
            <a:ext cx="1201042" cy="4018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47E92"/>
                </a:solidFill>
                <a:latin typeface="Calibri"/>
              </a:rPr>
              <a:t>stream JSONL,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47E92"/>
                </a:solidFill>
                <a:latin typeface="Calibri"/>
              </a:rPr>
              <a:t>single pass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3152179" y="2549425"/>
            <a:ext cx="98226" cy="80367"/>
          </a:xfrm>
          <a:prstGeom prst="rightArrow">
            <a:avLst/>
          </a:prstGeom>
          <a:solidFill>
            <a:srgbClr val="B0A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ounded Rectangle 107"/>
          <p:cNvSpPr/>
          <p:nvPr/>
        </p:nvSpPr>
        <p:spPr>
          <a:xfrm>
            <a:off x="3268265" y="1919882"/>
            <a:ext cx="1236761" cy="1339453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3268265" y="1919882"/>
            <a:ext cx="1236761" cy="35718"/>
          </a:xfrm>
          <a:prstGeom prst="rect">
            <a:avLst/>
          </a:prstGeom>
          <a:solidFill>
            <a:srgbClr val="3D8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3770560" y="2071687"/>
            <a:ext cx="232171" cy="232171"/>
          </a:xfrm>
          <a:prstGeom prst="ellipse">
            <a:avLst/>
          </a:prstGeom>
          <a:solidFill>
            <a:srgbClr val="3D8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3770560" y="2071687"/>
            <a:ext cx="232171" cy="23217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303984" y="2384226"/>
            <a:ext cx="1165324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181522"/>
                </a:solidFill>
                <a:latin typeface="Calibri"/>
              </a:rPr>
              <a:t>Score 5</a:t>
            </a:r>
          </a:p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181522"/>
                </a:solidFill>
                <a:latin typeface="Calibri"/>
              </a:rPr>
              <a:t>Dimensions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86125" y="2714625"/>
            <a:ext cx="1201042" cy="4018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47E92"/>
                </a:solidFill>
                <a:latin typeface="Calibri"/>
              </a:rPr>
              <a:t>title · tech · career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47E92"/>
                </a:solidFill>
                <a:latin typeface="Calibri"/>
              </a:rPr>
              <a:t>exp · availability</a:t>
            </a:r>
          </a:p>
        </p:txBody>
      </p:sp>
      <p:sp>
        <p:nvSpPr>
          <p:cNvPr id="114" name="Right Arrow 113"/>
          <p:cNvSpPr/>
          <p:nvPr/>
        </p:nvSpPr>
        <p:spPr>
          <a:xfrm>
            <a:off x="4522886" y="2549425"/>
            <a:ext cx="98226" cy="80367"/>
          </a:xfrm>
          <a:prstGeom prst="rightArrow">
            <a:avLst/>
          </a:prstGeom>
          <a:solidFill>
            <a:srgbClr val="B0A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4638972" y="1919882"/>
            <a:ext cx="1236761" cy="1339453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4638972" y="1919882"/>
            <a:ext cx="1236761" cy="35718"/>
          </a:xfrm>
          <a:prstGeom prst="rect">
            <a:avLst/>
          </a:prstGeom>
          <a:solidFill>
            <a:srgbClr val="E0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5141267" y="2071687"/>
            <a:ext cx="232171" cy="232171"/>
          </a:xfrm>
          <a:prstGeom prst="ellipse">
            <a:avLst/>
          </a:prstGeom>
          <a:solidFill>
            <a:srgbClr val="E0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5141267" y="2071687"/>
            <a:ext cx="232171" cy="23217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74691" y="2384226"/>
            <a:ext cx="1165324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181522"/>
                </a:solidFill>
                <a:latin typeface="Calibri"/>
              </a:rPr>
              <a:t>Honeypot</a:t>
            </a:r>
          </a:p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181522"/>
                </a:solidFill>
                <a:latin typeface="Calibri"/>
              </a:rPr>
              <a:t>Gate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56832" y="2714625"/>
            <a:ext cx="1201042" cy="4018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47E92"/>
                </a:solidFill>
                <a:latin typeface="Calibri"/>
              </a:rPr>
              <a:t>self-consistency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47E92"/>
                </a:solidFill>
                <a:latin typeface="Calibri"/>
              </a:rPr>
              <a:t>verification</a:t>
            </a:r>
          </a:p>
        </p:txBody>
      </p:sp>
      <p:sp>
        <p:nvSpPr>
          <p:cNvPr id="121" name="Right Arrow 120"/>
          <p:cNvSpPr/>
          <p:nvPr/>
        </p:nvSpPr>
        <p:spPr>
          <a:xfrm>
            <a:off x="5893593" y="2549425"/>
            <a:ext cx="98226" cy="80367"/>
          </a:xfrm>
          <a:prstGeom prst="rightArrow">
            <a:avLst/>
          </a:prstGeom>
          <a:solidFill>
            <a:srgbClr val="B0A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ounded Rectangle 121"/>
          <p:cNvSpPr/>
          <p:nvPr/>
        </p:nvSpPr>
        <p:spPr>
          <a:xfrm>
            <a:off x="6009679" y="1919882"/>
            <a:ext cx="1236761" cy="1339453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6009679" y="1919882"/>
            <a:ext cx="1236761" cy="35718"/>
          </a:xfrm>
          <a:prstGeom prst="rect">
            <a:avLst/>
          </a:prstGeom>
          <a:solidFill>
            <a:srgbClr val="D32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6511974" y="2071687"/>
            <a:ext cx="232171" cy="232171"/>
          </a:xfrm>
          <a:prstGeom prst="ellipse">
            <a:avLst/>
          </a:prstGeom>
          <a:solidFill>
            <a:srgbClr val="D32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6511974" y="2071687"/>
            <a:ext cx="232171" cy="23217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45398" y="2384226"/>
            <a:ext cx="1165324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181522"/>
                </a:solidFill>
                <a:latin typeface="Calibri"/>
              </a:rPr>
              <a:t>Rank +</a:t>
            </a:r>
          </a:p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181522"/>
                </a:solidFill>
                <a:latin typeface="Calibri"/>
              </a:rPr>
              <a:t>Tie-break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027539" y="2714625"/>
            <a:ext cx="1201042" cy="4018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47E92"/>
                </a:solidFill>
                <a:latin typeface="Calibri"/>
              </a:rPr>
              <a:t>location × penalties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47E92"/>
                </a:solidFill>
                <a:latin typeface="Calibri"/>
              </a:rPr>
              <a:t>id tie-break</a:t>
            </a:r>
          </a:p>
        </p:txBody>
      </p:sp>
      <p:sp>
        <p:nvSpPr>
          <p:cNvPr id="128" name="Right Arrow 127"/>
          <p:cNvSpPr/>
          <p:nvPr/>
        </p:nvSpPr>
        <p:spPr>
          <a:xfrm>
            <a:off x="7264300" y="2549425"/>
            <a:ext cx="98226" cy="80367"/>
          </a:xfrm>
          <a:prstGeom prst="rightArrow">
            <a:avLst/>
          </a:prstGeom>
          <a:solidFill>
            <a:srgbClr val="B0A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ounded Rectangle 128"/>
          <p:cNvSpPr/>
          <p:nvPr/>
        </p:nvSpPr>
        <p:spPr>
          <a:xfrm>
            <a:off x="7380386" y="1919882"/>
            <a:ext cx="1236761" cy="1339453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7380386" y="1919882"/>
            <a:ext cx="1236761" cy="35718"/>
          </a:xfrm>
          <a:prstGeom prst="rect">
            <a:avLst/>
          </a:prstGeom>
          <a:solidFill>
            <a:srgbClr val="1CA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7882681" y="2071687"/>
            <a:ext cx="232171" cy="232171"/>
          </a:xfrm>
          <a:prstGeom prst="ellipse">
            <a:avLst/>
          </a:prstGeom>
          <a:solidFill>
            <a:srgbClr val="1CA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7882681" y="2071687"/>
            <a:ext cx="232171" cy="23217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416105" y="2384226"/>
            <a:ext cx="1165324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181522"/>
                </a:solidFill>
                <a:latin typeface="Calibri"/>
              </a:rPr>
              <a:t>Top-100</a:t>
            </a:r>
          </a:p>
          <a:p>
            <a:pPr algn="ctr">
              <a:lnSpc>
                <a:spcPct val="102000"/>
              </a:lnSpc>
            </a:pPr>
            <a:r>
              <a:rPr sz="1250" b="1" i="0">
                <a:solidFill>
                  <a:srgbClr val="181522"/>
                </a:solidFill>
                <a:latin typeface="Calibri"/>
              </a:rPr>
              <a:t>+ Reasoning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398246" y="2714625"/>
            <a:ext cx="1201042" cy="4018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47E92"/>
                </a:solidFill>
                <a:latin typeface="Calibri"/>
              </a:rPr>
              <a:t>validated CSV,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47E92"/>
                </a:solidFill>
                <a:latin typeface="Calibri"/>
              </a:rPr>
              <a:t>audit-ready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26851" y="3571875"/>
            <a:ext cx="1184076" cy="241101"/>
          </a:xfrm>
          <a:prstGeom prst="roundRect">
            <a:avLst>
              <a:gd name="adj" fmla="val 50000"/>
            </a:avLst>
          </a:prstGeom>
          <a:solidFill>
            <a:srgbClr val="F4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526851" y="3571875"/>
            <a:ext cx="1184076" cy="24110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6C3FC4"/>
                </a:solidFill>
                <a:latin typeface="Calibri"/>
              </a:rPr>
              <a:t>Single pass over 100K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791295" y="3571875"/>
            <a:ext cx="1134070" cy="241101"/>
          </a:xfrm>
          <a:prstGeom prst="roundRect">
            <a:avLst>
              <a:gd name="adj" fmla="val 50000"/>
            </a:avLst>
          </a:prstGeom>
          <a:solidFill>
            <a:srgbClr val="F4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1791295" y="3571875"/>
            <a:ext cx="1134070" cy="24110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6C3FC4"/>
                </a:solidFill>
                <a:latin typeface="Calibri"/>
              </a:rPr>
              <a:t>~31s on one CPU core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005732" y="3571875"/>
            <a:ext cx="784026" cy="241101"/>
          </a:xfrm>
          <a:prstGeom prst="roundRect">
            <a:avLst>
              <a:gd name="adj" fmla="val 50000"/>
            </a:avLst>
          </a:prstGeom>
          <a:solidFill>
            <a:srgbClr val="F4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3005732" y="3571875"/>
            <a:ext cx="784026" cy="24110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6C3FC4"/>
                </a:solidFill>
                <a:latin typeface="Calibri"/>
              </a:rPr>
              <a:t>&lt; 1 GB memory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870126" y="3571875"/>
            <a:ext cx="934045" cy="241101"/>
          </a:xfrm>
          <a:prstGeom prst="roundRect">
            <a:avLst>
              <a:gd name="adj" fmla="val 50000"/>
            </a:avLst>
          </a:prstGeom>
          <a:solidFill>
            <a:srgbClr val="F4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3870126" y="3571875"/>
            <a:ext cx="934045" cy="24110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6C3FC4"/>
                </a:solidFill>
                <a:latin typeface="Calibri"/>
              </a:rPr>
              <a:t>No network calls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884539" y="3571875"/>
            <a:ext cx="1184076" cy="241101"/>
          </a:xfrm>
          <a:prstGeom prst="roundRect">
            <a:avLst>
              <a:gd name="adj" fmla="val 50000"/>
            </a:avLst>
          </a:prstGeom>
          <a:solidFill>
            <a:srgbClr val="F4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4884539" y="3571875"/>
            <a:ext cx="1184076" cy="24110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6C3FC4"/>
                </a:solidFill>
                <a:latin typeface="Calibri"/>
              </a:rPr>
              <a:t>Byte-identical reruns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TextBox 97"/>
          <p:cNvSpPr txBox="1"/>
          <p:nvPr/>
        </p:nvSpPr>
        <p:spPr>
          <a:xfrm>
            <a:off x="526851" y="669726"/>
            <a:ext cx="7322343" cy="2500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6C3FC4"/>
                </a:solidFill>
                <a:latin typeface="Calibri"/>
              </a:rPr>
              <a:t>SYSTEM ARCHITECTURE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7921" y="875109"/>
            <a:ext cx="7858125" cy="58042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81522"/>
                </a:solidFill>
                <a:latin typeface="Georgia"/>
              </a:rPr>
              <a:t>Four layers, one deterministic pass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22343" y="535781"/>
            <a:ext cx="1294804" cy="66972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4400" b="1" i="0">
                <a:solidFill>
                  <a:srgbClr val="ECEAF4"/>
                </a:solidFill>
                <a:latin typeface="Georgia"/>
              </a:rPr>
              <a:t>07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26851" y="1473398"/>
            <a:ext cx="6974085" cy="482203"/>
          </a:xfrm>
          <a:prstGeom prst="roundRect">
            <a:avLst>
              <a:gd name="adj" fmla="val 6000"/>
            </a:avLst>
          </a:prstGeom>
          <a:solidFill>
            <a:srgbClr val="F4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526851" y="1473398"/>
            <a:ext cx="44648" cy="482203"/>
          </a:xfrm>
          <a:prstGeom prst="rect">
            <a:avLst/>
          </a:prstGeom>
          <a:solidFill>
            <a:srgbClr val="6C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78656" y="1553765"/>
            <a:ext cx="6670476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1" i="0">
                <a:solidFill>
                  <a:srgbClr val="6C3FC4"/>
                </a:solidFill>
                <a:latin typeface="Calibri"/>
              </a:rPr>
              <a:t>INPUT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78656" y="1705570"/>
            <a:ext cx="6670476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4E4A5C"/>
                </a:solidFill>
                <a:latin typeface="Calibri"/>
              </a:rPr>
              <a:t>candidates.jsonl (100K profiles)   +   JD-derived rule configuration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26851" y="2071687"/>
            <a:ext cx="6974085" cy="750093"/>
          </a:xfrm>
          <a:prstGeom prst="roundRect">
            <a:avLst>
              <a:gd name="adj" fmla="val 6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526851" y="2071687"/>
            <a:ext cx="44648" cy="750093"/>
          </a:xfrm>
          <a:prstGeom prst="rect">
            <a:avLst/>
          </a:prstGeom>
          <a:solidFill>
            <a:srgbClr val="2B3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678656" y="2152054"/>
            <a:ext cx="6670476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1" i="0">
                <a:solidFill>
                  <a:srgbClr val="2B3AD8"/>
                </a:solidFill>
                <a:latin typeface="Calibri"/>
              </a:rPr>
              <a:t>SCORING ENGINE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78656" y="2303859"/>
            <a:ext cx="6670476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4E4A5C"/>
                </a:solidFill>
                <a:latin typeface="Calibri"/>
              </a:rPr>
              <a:t>five independent stdlib scoring modules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78656" y="2509242"/>
            <a:ext cx="1269801" cy="214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2B3A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78656" y="2509242"/>
            <a:ext cx="1269801" cy="2143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2B3AD8"/>
                </a:solidFill>
                <a:latin typeface="Calibri"/>
              </a:rPr>
              <a:t>Title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028824" y="2509242"/>
            <a:ext cx="1269801" cy="214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2B3A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2028824" y="2509242"/>
            <a:ext cx="1269801" cy="2143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2B3AD8"/>
                </a:solidFill>
                <a:latin typeface="Calibri"/>
              </a:rPr>
              <a:t>Technical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378993" y="2509242"/>
            <a:ext cx="1269801" cy="214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2B3A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3378993" y="2509242"/>
            <a:ext cx="1269801" cy="2143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2B3AD8"/>
                </a:solidFill>
                <a:latin typeface="Calibri"/>
              </a:rPr>
              <a:t>Career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729162" y="2509242"/>
            <a:ext cx="1269801" cy="214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2B3A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4729162" y="2509242"/>
            <a:ext cx="1269801" cy="2143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2B3AD8"/>
                </a:solidFill>
                <a:latin typeface="Calibri"/>
              </a:rPr>
              <a:t>Experience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079331" y="2509242"/>
            <a:ext cx="1269801" cy="2143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2B3A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6079331" y="2509242"/>
            <a:ext cx="1269801" cy="2143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2B3AD8"/>
                </a:solidFill>
                <a:latin typeface="Calibri"/>
              </a:rPr>
              <a:t>Availability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26851" y="2937867"/>
            <a:ext cx="6974085" cy="482203"/>
          </a:xfrm>
          <a:prstGeom prst="roundRect">
            <a:avLst>
              <a:gd name="adj" fmla="val 6000"/>
            </a:avLst>
          </a:prstGeom>
          <a:solidFill>
            <a:srgbClr val="FDF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526851" y="2937867"/>
            <a:ext cx="44648" cy="482203"/>
          </a:xfrm>
          <a:prstGeom prst="rect">
            <a:avLst/>
          </a:prstGeom>
          <a:solidFill>
            <a:srgbClr val="E0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678656" y="3018234"/>
            <a:ext cx="6670476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1" i="0">
                <a:solidFill>
                  <a:srgbClr val="E07A28"/>
                </a:solidFill>
                <a:latin typeface="Calibri"/>
              </a:rPr>
              <a:t>VALIDATION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8656" y="3170039"/>
            <a:ext cx="6670476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4E4A5C"/>
                </a:solidFill>
                <a:latin typeface="Calibri"/>
              </a:rPr>
              <a:t>skills cross-checked vs. career text    ·    honeypot_flags() self-consistency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26851" y="3536156"/>
            <a:ext cx="6974085" cy="535781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526851" y="3536156"/>
            <a:ext cx="44648" cy="535781"/>
          </a:xfrm>
          <a:prstGeom prst="rect">
            <a:avLst/>
          </a:prstGeom>
          <a:solidFill>
            <a:srgbClr val="1CA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678656" y="3616523"/>
            <a:ext cx="6670476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1" i="0">
                <a:solidFill>
                  <a:srgbClr val="1CA096"/>
                </a:solidFill>
                <a:latin typeface="Calibri"/>
              </a:rPr>
              <a:t>AGGREGATION &amp; OUTPUT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8656" y="3768328"/>
            <a:ext cx="6670476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4E4A5C"/>
                </a:solidFill>
                <a:latin typeface="Calibri"/>
              </a:rPr>
              <a:t>weighted blend  ·  location × penalties  ·  honeypot gate  ·  validated top-100 CSV + reasoning</a:t>
            </a:r>
          </a:p>
        </p:txBody>
      </p:sp>
      <p:sp>
        <p:nvSpPr>
          <p:cNvPr id="127" name="Down Arrow 126"/>
          <p:cNvSpPr/>
          <p:nvPr/>
        </p:nvSpPr>
        <p:spPr>
          <a:xfrm>
            <a:off x="3973710" y="1968996"/>
            <a:ext cx="80367" cy="89296"/>
          </a:xfrm>
          <a:prstGeom prst="downArrow">
            <a:avLst/>
          </a:prstGeom>
          <a:solidFill>
            <a:srgbClr val="9A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Down Arrow 127"/>
          <p:cNvSpPr/>
          <p:nvPr/>
        </p:nvSpPr>
        <p:spPr>
          <a:xfrm>
            <a:off x="3973710" y="2835175"/>
            <a:ext cx="80367" cy="89296"/>
          </a:xfrm>
          <a:prstGeom prst="downArrow">
            <a:avLst/>
          </a:prstGeom>
          <a:solidFill>
            <a:srgbClr val="9A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Down Arrow 128"/>
          <p:cNvSpPr/>
          <p:nvPr/>
        </p:nvSpPr>
        <p:spPr>
          <a:xfrm>
            <a:off x="3973710" y="3433464"/>
            <a:ext cx="80367" cy="89296"/>
          </a:xfrm>
          <a:prstGeom prst="downArrow">
            <a:avLst/>
          </a:prstGeom>
          <a:solidFill>
            <a:srgbClr val="9A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ounded Rectangle 129"/>
          <p:cNvSpPr/>
          <p:nvPr/>
        </p:nvSpPr>
        <p:spPr>
          <a:xfrm>
            <a:off x="7634882" y="1473398"/>
            <a:ext cx="982265" cy="2598539"/>
          </a:xfrm>
          <a:prstGeom prst="roundRect">
            <a:avLst>
              <a:gd name="adj" fmla="val 7000"/>
            </a:avLst>
          </a:prstGeom>
          <a:solidFill>
            <a:srgbClr val="18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634882" y="1589484"/>
            <a:ext cx="982265" cy="13394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B4AAD8"/>
                </a:solidFill>
                <a:latin typeface="Calibri"/>
              </a:rPr>
              <a:t>GUARANTEES</a:t>
            </a:r>
          </a:p>
        </p:txBody>
      </p:sp>
      <p:sp>
        <p:nvSpPr>
          <p:cNvPr id="132" name="Oval 131"/>
          <p:cNvSpPr/>
          <p:nvPr/>
        </p:nvSpPr>
        <p:spPr>
          <a:xfrm>
            <a:off x="7742039" y="1852910"/>
            <a:ext cx="53578" cy="53578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7831335" y="1821656"/>
            <a:ext cx="732234" cy="12501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Deterministic</a:t>
            </a:r>
          </a:p>
        </p:txBody>
      </p:sp>
      <p:sp>
        <p:nvSpPr>
          <p:cNvPr id="134" name="Oval 133"/>
          <p:cNvSpPr/>
          <p:nvPr/>
        </p:nvSpPr>
        <p:spPr>
          <a:xfrm>
            <a:off x="7742039" y="2102941"/>
            <a:ext cx="53578" cy="53578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7831335" y="2071687"/>
            <a:ext cx="732234" cy="12501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Single pass</a:t>
            </a:r>
          </a:p>
        </p:txBody>
      </p:sp>
      <p:sp>
        <p:nvSpPr>
          <p:cNvPr id="136" name="Oval 135"/>
          <p:cNvSpPr/>
          <p:nvPr/>
        </p:nvSpPr>
        <p:spPr>
          <a:xfrm>
            <a:off x="7742039" y="2352972"/>
            <a:ext cx="53578" cy="53578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7831335" y="2321718"/>
            <a:ext cx="732234" cy="12501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Stdlib only</a:t>
            </a:r>
          </a:p>
        </p:txBody>
      </p:sp>
      <p:sp>
        <p:nvSpPr>
          <p:cNvPr id="138" name="Oval 137"/>
          <p:cNvSpPr/>
          <p:nvPr/>
        </p:nvSpPr>
        <p:spPr>
          <a:xfrm>
            <a:off x="7742039" y="2603003"/>
            <a:ext cx="53578" cy="53578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7831335" y="2571750"/>
            <a:ext cx="732234" cy="12501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&lt; 1 GB RAM</a:t>
            </a:r>
          </a:p>
        </p:txBody>
      </p:sp>
      <p:sp>
        <p:nvSpPr>
          <p:cNvPr id="140" name="Oval 139"/>
          <p:cNvSpPr/>
          <p:nvPr/>
        </p:nvSpPr>
        <p:spPr>
          <a:xfrm>
            <a:off x="7742039" y="2853035"/>
            <a:ext cx="53578" cy="53578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7831335" y="2821781"/>
            <a:ext cx="732234" cy="12501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CPU only</a:t>
            </a:r>
          </a:p>
        </p:txBody>
      </p:sp>
      <p:sp>
        <p:nvSpPr>
          <p:cNvPr id="142" name="Oval 141"/>
          <p:cNvSpPr/>
          <p:nvPr/>
        </p:nvSpPr>
        <p:spPr>
          <a:xfrm>
            <a:off x="7742039" y="3103066"/>
            <a:ext cx="53578" cy="53578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7831335" y="3071812"/>
            <a:ext cx="732234" cy="12501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~31 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TextBox 103"/>
          <p:cNvSpPr txBox="1"/>
          <p:nvPr/>
        </p:nvSpPr>
        <p:spPr>
          <a:xfrm>
            <a:off x="526851" y="669726"/>
            <a:ext cx="7322343" cy="2500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6C3FC4"/>
                </a:solidFill>
                <a:latin typeface="Calibri"/>
              </a:rPr>
              <a:t>RESULTS &amp; PERFORMANCE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7921" y="875109"/>
            <a:ext cx="7858125" cy="58042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81522"/>
                </a:solidFill>
                <a:latin typeface="Georgia"/>
              </a:rPr>
              <a:t>Fast, clean, and within every budget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22343" y="535781"/>
            <a:ext cx="1294804" cy="66972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4400" b="1" i="0">
                <a:solidFill>
                  <a:srgbClr val="ECEAF4"/>
                </a:solidFill>
                <a:latin typeface="Georgia"/>
              </a:rPr>
              <a:t>08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6851" y="1455539"/>
            <a:ext cx="2607468" cy="875109"/>
          </a:xfrm>
          <a:prstGeom prst="roundRect">
            <a:avLst>
              <a:gd name="adj" fmla="val 8000"/>
            </a:avLst>
          </a:prstGeom>
          <a:solidFill>
            <a:srgbClr val="F4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60796" y="1562695"/>
            <a:ext cx="2339578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300" b="1" i="0">
                <a:solidFill>
                  <a:srgbClr val="6C3FC4"/>
                </a:solidFill>
                <a:latin typeface="Georgia"/>
              </a:rPr>
              <a:t>100,000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9726" y="1973460"/>
            <a:ext cx="2339578" cy="3125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81522"/>
                </a:solidFill>
                <a:latin typeface="Calibri"/>
              </a:rPr>
              <a:t>candidates scored</a:t>
            </a:r>
          </a:p>
          <a:p>
            <a:pPr algn="l"/>
            <a:r>
              <a:rPr sz="1100" b="0" i="0">
                <a:solidFill>
                  <a:srgbClr val="4E4A5C"/>
                </a:solidFill>
                <a:latin typeface="Calibri"/>
              </a:rPr>
              <a:t>complete pool, single pass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268265" y="1455539"/>
            <a:ext cx="2607468" cy="875109"/>
          </a:xfrm>
          <a:prstGeom prst="roundRect">
            <a:avLst>
              <a:gd name="adj" fmla="val 8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3402210" y="1562695"/>
            <a:ext cx="2339578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300" b="1" i="0">
                <a:solidFill>
                  <a:srgbClr val="2B3AD8"/>
                </a:solidFill>
                <a:latin typeface="Georgia"/>
              </a:rPr>
              <a:t>~31 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411140" y="1973460"/>
            <a:ext cx="2339578" cy="3125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81522"/>
                </a:solidFill>
                <a:latin typeface="Calibri"/>
              </a:rPr>
              <a:t>end-to-end runtime</a:t>
            </a:r>
          </a:p>
          <a:p>
            <a:pPr algn="l"/>
            <a:r>
              <a:rPr sz="1100" b="0" i="0">
                <a:solidFill>
                  <a:srgbClr val="4E4A5C"/>
                </a:solidFill>
                <a:latin typeface="Calibri"/>
              </a:rPr>
              <a:t>one CPU core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009679" y="1455539"/>
            <a:ext cx="2607468" cy="875109"/>
          </a:xfrm>
          <a:prstGeom prst="roundRect">
            <a:avLst>
              <a:gd name="adj" fmla="val 8000"/>
            </a:avLst>
          </a:prstGeom>
          <a:solidFill>
            <a:srgbClr val="E9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143625" y="1562695"/>
            <a:ext cx="2339578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300" b="1" i="0">
                <a:solidFill>
                  <a:srgbClr val="1CA096"/>
                </a:solidFill>
                <a:latin typeface="Georgia"/>
              </a:rP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52554" y="1973460"/>
            <a:ext cx="2339578" cy="3125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81522"/>
                </a:solidFill>
                <a:latin typeface="Calibri"/>
              </a:rPr>
              <a:t>external dependencies</a:t>
            </a:r>
          </a:p>
          <a:p>
            <a:pPr algn="l"/>
            <a:r>
              <a:rPr sz="1100" b="0" i="0">
                <a:solidFill>
                  <a:srgbClr val="4E4A5C"/>
                </a:solidFill>
                <a:latin typeface="Calibri"/>
              </a:rPr>
              <a:t>pure standard library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26851" y="2464593"/>
            <a:ext cx="2607468" cy="875109"/>
          </a:xfrm>
          <a:prstGeom prst="roundRect">
            <a:avLst>
              <a:gd name="adj" fmla="val 8000"/>
            </a:avLst>
          </a:prstGeom>
          <a:solidFill>
            <a:srgbClr val="FDF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660796" y="2571750"/>
            <a:ext cx="2339578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300" b="1" i="0">
                <a:solidFill>
                  <a:srgbClr val="E07A28"/>
                </a:solidFill>
                <a:latin typeface="Georgia"/>
              </a:rPr>
              <a:t>141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69726" y="2982515"/>
            <a:ext cx="2339578" cy="3125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81522"/>
                </a:solidFill>
                <a:latin typeface="Calibri"/>
              </a:rPr>
              <a:t>honeypots caught</a:t>
            </a:r>
          </a:p>
          <a:p>
            <a:pPr algn="l"/>
            <a:r>
              <a:rPr sz="1100" b="0" i="0">
                <a:solidFill>
                  <a:srgbClr val="4E4A5C"/>
                </a:solidFill>
                <a:latin typeface="Calibri"/>
              </a:rPr>
              <a:t>pool-wide consistency checks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268265" y="2464593"/>
            <a:ext cx="2607468" cy="875109"/>
          </a:xfrm>
          <a:prstGeom prst="roundRect">
            <a:avLst>
              <a:gd name="adj" fmla="val 8000"/>
            </a:avLst>
          </a:prstGeom>
          <a:solidFill>
            <a:srgbClr val="FC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3402210" y="2571750"/>
            <a:ext cx="2339578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300" b="1" i="0">
                <a:solidFill>
                  <a:srgbClr val="D32F6E"/>
                </a:solidFill>
                <a:latin typeface="Georgia"/>
              </a:rPr>
              <a:t>0 %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411140" y="2982515"/>
            <a:ext cx="2339578" cy="3125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81522"/>
                </a:solidFill>
                <a:latin typeface="Calibri"/>
              </a:rPr>
              <a:t>honeypots in top-100</a:t>
            </a:r>
          </a:p>
          <a:p>
            <a:pPr algn="l"/>
            <a:r>
              <a:rPr sz="1100" b="0" i="0">
                <a:solidFill>
                  <a:srgbClr val="4E4A5C"/>
                </a:solidFill>
                <a:latin typeface="Calibri"/>
              </a:rPr>
              <a:t>DQ threshold is 10%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009679" y="2464593"/>
            <a:ext cx="2607468" cy="875109"/>
          </a:xfrm>
          <a:prstGeom prst="roundRect">
            <a:avLst>
              <a:gd name="adj" fmla="val 8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6143625" y="2571750"/>
            <a:ext cx="2339578" cy="3571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300" b="1" i="0">
                <a:solidFill>
                  <a:srgbClr val="3D84C4"/>
                </a:solidFill>
                <a:latin typeface="Georgia"/>
              </a:rPr>
              <a:t>&lt; 1 GB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152554" y="2982515"/>
            <a:ext cx="2339578" cy="3125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81522"/>
                </a:solidFill>
                <a:latin typeface="Calibri"/>
              </a:rPr>
              <a:t>peak memory</a:t>
            </a:r>
          </a:p>
          <a:p>
            <a:pPr algn="l"/>
            <a:r>
              <a:rPr sz="1100" b="0" i="0">
                <a:solidFill>
                  <a:srgbClr val="4E4A5C"/>
                </a:solidFill>
                <a:latin typeface="Calibri"/>
              </a:rPr>
              <a:t>16 GB budget, CPU-only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26851" y="3455789"/>
            <a:ext cx="8090296" cy="428625"/>
          </a:xfrm>
          <a:prstGeom prst="roundRect">
            <a:avLst>
              <a:gd name="adj" fmla="val 10000"/>
            </a:avLst>
          </a:prstGeom>
          <a:solidFill>
            <a:srgbClr val="18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678656" y="3455789"/>
            <a:ext cx="1339453" cy="42862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B4AAD8"/>
                </a:solidFill>
                <a:latin typeface="Calibri"/>
              </a:rPr>
              <a:t>CHALLENGE</a:t>
            </a:r>
          </a:p>
          <a:p>
            <a:pPr algn="l"/>
            <a:r>
              <a:rPr sz="1050" b="1" i="0">
                <a:solidFill>
                  <a:srgbClr val="B4AAD8"/>
                </a:solidFill>
                <a:latin typeface="Calibri"/>
              </a:rPr>
              <a:t>CONSTRAINTS</a:t>
            </a:r>
          </a:p>
        </p:txBody>
      </p:sp>
      <p:sp>
        <p:nvSpPr>
          <p:cNvPr id="127" name="Oval 126"/>
          <p:cNvSpPr/>
          <p:nvPr/>
        </p:nvSpPr>
        <p:spPr>
          <a:xfrm>
            <a:off x="2098476" y="3612058"/>
            <a:ext cx="116085" cy="116085"/>
          </a:xfrm>
          <a:prstGeom prst="ellipse">
            <a:avLst/>
          </a:prstGeom>
          <a:solidFill>
            <a:srgbClr val="1CA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2098476" y="3603128"/>
            <a:ext cx="116085" cy="1160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50281" y="3554015"/>
            <a:ext cx="1205507" cy="2678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Runtime</a:t>
            </a:r>
          </a:p>
          <a:p>
            <a:pPr algn="l"/>
            <a:r>
              <a:rPr sz="1000" b="0" i="0">
                <a:solidFill>
                  <a:srgbClr val="B4AAD8"/>
                </a:solidFill>
                <a:latin typeface="Calibri"/>
              </a:rPr>
              <a:t>31 s of 5 min</a:t>
            </a:r>
          </a:p>
        </p:txBody>
      </p:sp>
      <p:sp>
        <p:nvSpPr>
          <p:cNvPr id="130" name="Oval 129"/>
          <p:cNvSpPr/>
          <p:nvPr/>
        </p:nvSpPr>
        <p:spPr>
          <a:xfrm>
            <a:off x="3437929" y="3612058"/>
            <a:ext cx="116085" cy="116085"/>
          </a:xfrm>
          <a:prstGeom prst="ellipse">
            <a:avLst/>
          </a:prstGeom>
          <a:solidFill>
            <a:srgbClr val="1CA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3437929" y="3603128"/>
            <a:ext cx="116085" cy="1160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89734" y="3554015"/>
            <a:ext cx="1205507" cy="2678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CPU-only</a:t>
            </a:r>
          </a:p>
          <a:p>
            <a:pPr algn="l"/>
            <a:r>
              <a:rPr sz="1000" b="0" i="0">
                <a:solidFill>
                  <a:srgbClr val="B4AAD8"/>
                </a:solidFill>
                <a:latin typeface="Calibri"/>
              </a:rPr>
              <a:t>yes</a:t>
            </a:r>
          </a:p>
        </p:txBody>
      </p:sp>
      <p:sp>
        <p:nvSpPr>
          <p:cNvPr id="133" name="Oval 132"/>
          <p:cNvSpPr/>
          <p:nvPr/>
        </p:nvSpPr>
        <p:spPr>
          <a:xfrm>
            <a:off x="4777382" y="3612058"/>
            <a:ext cx="116085" cy="116085"/>
          </a:xfrm>
          <a:prstGeom prst="ellipse">
            <a:avLst/>
          </a:prstGeom>
          <a:solidFill>
            <a:srgbClr val="1CA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4777382" y="3603128"/>
            <a:ext cx="116085" cy="1160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929187" y="3554015"/>
            <a:ext cx="1205507" cy="2678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network</a:t>
            </a:r>
          </a:p>
          <a:p>
            <a:pPr algn="l"/>
            <a:r>
              <a:rPr sz="1000" b="0" i="0">
                <a:solidFill>
                  <a:srgbClr val="B4AAD8"/>
                </a:solidFill>
                <a:latin typeface="Calibri"/>
              </a:rPr>
              <a:t>yes</a:t>
            </a:r>
          </a:p>
        </p:txBody>
      </p:sp>
      <p:sp>
        <p:nvSpPr>
          <p:cNvPr id="136" name="Oval 135"/>
          <p:cNvSpPr/>
          <p:nvPr/>
        </p:nvSpPr>
        <p:spPr>
          <a:xfrm>
            <a:off x="6116835" y="3612058"/>
            <a:ext cx="116085" cy="116085"/>
          </a:xfrm>
          <a:prstGeom prst="ellipse">
            <a:avLst/>
          </a:prstGeom>
          <a:solidFill>
            <a:srgbClr val="1CA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6116835" y="3603128"/>
            <a:ext cx="116085" cy="1160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68640" y="3554015"/>
            <a:ext cx="1205507" cy="2678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Deterministic</a:t>
            </a:r>
          </a:p>
          <a:p>
            <a:pPr algn="l"/>
            <a:r>
              <a:rPr sz="1000" b="0" i="0">
                <a:solidFill>
                  <a:srgbClr val="B4AAD8"/>
                </a:solidFill>
                <a:latin typeface="Calibri"/>
              </a:rPr>
              <a:t>verified</a:t>
            </a:r>
          </a:p>
        </p:txBody>
      </p:sp>
      <p:sp>
        <p:nvSpPr>
          <p:cNvPr id="139" name="Oval 138"/>
          <p:cNvSpPr/>
          <p:nvPr/>
        </p:nvSpPr>
        <p:spPr>
          <a:xfrm>
            <a:off x="7456289" y="3612058"/>
            <a:ext cx="116085" cy="116085"/>
          </a:xfrm>
          <a:prstGeom prst="ellipse">
            <a:avLst/>
          </a:prstGeom>
          <a:solidFill>
            <a:srgbClr val="1CA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7456289" y="3603128"/>
            <a:ext cx="116085" cy="1160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608093" y="3554015"/>
            <a:ext cx="1205507" cy="2678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Validator</a:t>
            </a:r>
          </a:p>
          <a:p>
            <a:pPr algn="l"/>
            <a:r>
              <a:rPr sz="1000" b="0" i="0">
                <a:solidFill>
                  <a:srgbClr val="B4AAD8"/>
                </a:solidFill>
                <a:latin typeface="Calibri"/>
              </a:rPr>
              <a:t>passes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TextBox 110"/>
          <p:cNvSpPr txBox="1"/>
          <p:nvPr/>
        </p:nvSpPr>
        <p:spPr>
          <a:xfrm>
            <a:off x="526851" y="669726"/>
            <a:ext cx="7322343" cy="2500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6C3FC4"/>
                </a:solidFill>
                <a:latin typeface="Calibri"/>
              </a:rPr>
              <a:t>TECHNOLOGIES USED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7921" y="875109"/>
            <a:ext cx="7858125" cy="58042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81522"/>
                </a:solidFill>
                <a:latin typeface="Georgia"/>
              </a:rPr>
              <a:t>The simplest system you can trust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322343" y="535781"/>
            <a:ext cx="1294804" cy="66972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4400" b="1" i="0">
                <a:solidFill>
                  <a:srgbClr val="ECEAF4"/>
                </a:solidFill>
                <a:latin typeface="Georgia"/>
              </a:rPr>
              <a:t>09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26851" y="1455539"/>
            <a:ext cx="4206954" cy="2411015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526851" y="1455539"/>
            <a:ext cx="4206954" cy="35718"/>
          </a:xfrm>
          <a:prstGeom prst="rect">
            <a:avLst/>
          </a:prstGeom>
          <a:solidFill>
            <a:srgbClr val="6C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678656" y="1580554"/>
            <a:ext cx="3903345" cy="1607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6C3FC4"/>
                </a:solidFill>
                <a:latin typeface="Calibri"/>
              </a:rPr>
              <a:t>WHY STANDARD LIBRARY ONLY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78656" y="1785937"/>
            <a:ext cx="3903345" cy="46434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81522"/>
                </a:solidFill>
                <a:latin typeface="Calibri"/>
              </a:rPr>
              <a:t>Reproducibility</a:t>
            </a:r>
          </a:p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4E4A5C"/>
                </a:solidFill>
                <a:latin typeface="Calibri"/>
              </a:rPr>
              <a:t>No model weights, no version drift, no nondeterminism — every run is identical.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78656" y="2303859"/>
            <a:ext cx="3903345" cy="46434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81522"/>
                </a:solidFill>
                <a:latin typeface="Calibri"/>
              </a:rPr>
              <a:t>Portability</a:t>
            </a:r>
          </a:p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4E4A5C"/>
                </a:solidFill>
                <a:latin typeface="Calibri"/>
              </a:rPr>
              <a:t>Runs anywhere Python 3.9+ runs: no GPU, no network, no install step.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78656" y="2821781"/>
            <a:ext cx="3903345" cy="46434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81522"/>
                </a:solidFill>
                <a:latin typeface="Calibri"/>
              </a:rPr>
              <a:t>Auditability</a:t>
            </a:r>
          </a:p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4E4A5C"/>
                </a:solidFill>
                <a:latin typeface="Calibri"/>
              </a:rPr>
              <a:t>Judges can read the entire scoring logic line by line and verify it.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78656" y="3339703"/>
            <a:ext cx="3903345" cy="46434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81522"/>
                </a:solidFill>
                <a:latin typeface="Calibri"/>
              </a:rPr>
              <a:t>Inside the budget</a:t>
            </a:r>
          </a:p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4E4A5C"/>
                </a:solidFill>
                <a:latin typeface="Calibri"/>
              </a:rPr>
              <a:t>Comfortably within the 5-minute, 16 GB, CPU-only envelope.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94540" y="1473398"/>
            <a:ext cx="3722608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B3AD8"/>
                </a:solidFill>
                <a:latin typeface="Calibri"/>
              </a:rPr>
              <a:t>THE STACK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894540" y="1660921"/>
            <a:ext cx="3722608" cy="517921"/>
          </a:xfrm>
          <a:prstGeom prst="roundRect">
            <a:avLst>
              <a:gd name="adj" fmla="val 10000"/>
            </a:avLst>
          </a:prstGeom>
          <a:solidFill>
            <a:srgbClr val="F7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4894540" y="1660921"/>
            <a:ext cx="44648" cy="517921"/>
          </a:xfrm>
          <a:prstGeom prst="rect">
            <a:avLst/>
          </a:prstGeom>
          <a:solidFill>
            <a:srgbClr val="6C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046345" y="1759148"/>
            <a:ext cx="3454717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181522"/>
                </a:solidFill>
                <a:latin typeface="Calibri"/>
              </a:rPr>
              <a:t>Python 3.9+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046345" y="1937742"/>
            <a:ext cx="3454717" cy="1607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4E4A5C"/>
                </a:solidFill>
                <a:latin typeface="Consolas"/>
              </a:rPr>
              <a:t>json · csv · datetime · argparse · pathlib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894540" y="2250281"/>
            <a:ext cx="3722608" cy="517921"/>
          </a:xfrm>
          <a:prstGeom prst="roundRect">
            <a:avLst>
              <a:gd name="adj" fmla="val 10000"/>
            </a:avLst>
          </a:prstGeom>
          <a:solidFill>
            <a:srgbClr val="F7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4894540" y="2250281"/>
            <a:ext cx="44648" cy="517921"/>
          </a:xfrm>
          <a:prstGeom prst="rect">
            <a:avLst/>
          </a:prstGeom>
          <a:solidFill>
            <a:srgbClr val="2B3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5046345" y="2348507"/>
            <a:ext cx="3454717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181522"/>
                </a:solidFill>
                <a:latin typeface="Calibri"/>
              </a:rPr>
              <a:t>Zero pip installs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46345" y="2527101"/>
            <a:ext cx="3454717" cy="1607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4E4A5C"/>
                </a:solidFill>
                <a:latin typeface="Consolas"/>
              </a:rPr>
              <a:t>requirements.txt is empty by design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894540" y="2839640"/>
            <a:ext cx="3722608" cy="517921"/>
          </a:xfrm>
          <a:prstGeom prst="roundRect">
            <a:avLst>
              <a:gd name="adj" fmla="val 10000"/>
            </a:avLst>
          </a:prstGeom>
          <a:solidFill>
            <a:srgbClr val="F7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4894540" y="2839640"/>
            <a:ext cx="44648" cy="517921"/>
          </a:xfrm>
          <a:prstGeom prst="rect">
            <a:avLst/>
          </a:prstGeom>
          <a:solidFill>
            <a:srgbClr val="1CA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5046345" y="2937867"/>
            <a:ext cx="3454717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181522"/>
                </a:solidFill>
                <a:latin typeface="Calibri"/>
              </a:rPr>
              <a:t>No ML model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046345" y="3116460"/>
            <a:ext cx="3454717" cy="1607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4E4A5C"/>
                </a:solidFill>
                <a:latin typeface="Consolas"/>
              </a:rPr>
              <a:t>deterministic heuristics, not inference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894540" y="3429000"/>
            <a:ext cx="3722608" cy="517921"/>
          </a:xfrm>
          <a:prstGeom prst="roundRect">
            <a:avLst>
              <a:gd name="adj" fmla="val 10000"/>
            </a:avLst>
          </a:prstGeom>
          <a:solidFill>
            <a:srgbClr val="F7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4894540" y="3429000"/>
            <a:ext cx="44648" cy="517921"/>
          </a:xfrm>
          <a:prstGeom prst="rect">
            <a:avLst/>
          </a:prstGeom>
          <a:solidFill>
            <a:srgbClr val="E0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5046345" y="3527226"/>
            <a:ext cx="3454717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181522"/>
                </a:solidFill>
                <a:latin typeface="Calibri"/>
              </a:rPr>
              <a:t>python-pptx / Pillow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046345" y="3705820"/>
            <a:ext cx="3454717" cy="1607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4E4A5C"/>
                </a:solidFill>
                <a:latin typeface="Consolas"/>
              </a:rPr>
              <a:t>used only to build this deck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TextBox 117"/>
          <p:cNvSpPr txBox="1"/>
          <p:nvPr/>
        </p:nvSpPr>
        <p:spPr>
          <a:xfrm>
            <a:off x="526851" y="669726"/>
            <a:ext cx="7322343" cy="2500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6C3FC4"/>
                </a:solidFill>
                <a:latin typeface="Calibri"/>
              </a:rPr>
              <a:t>SUBMISSION ASSETS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7921" y="875109"/>
            <a:ext cx="7858125" cy="58042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81522"/>
                </a:solidFill>
                <a:latin typeface="Georgia"/>
              </a:rPr>
              <a:t>Everything, reproducible in one command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22343" y="535781"/>
            <a:ext cx="1294804" cy="66972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4400" b="1" i="0">
                <a:solidFill>
                  <a:srgbClr val="ECEAF4"/>
                </a:solidFill>
                <a:latin typeface="Georgia"/>
              </a:rPr>
              <a:t>10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26851" y="1455539"/>
            <a:ext cx="2607468" cy="79474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ounded Rectangle 121"/>
          <p:cNvSpPr/>
          <p:nvPr/>
        </p:nvSpPr>
        <p:spPr>
          <a:xfrm>
            <a:off x="651867" y="1580554"/>
            <a:ext cx="71437" cy="71437"/>
          </a:xfrm>
          <a:prstGeom prst="roundRect">
            <a:avLst>
              <a:gd name="adj" fmla="val 30000"/>
            </a:avLst>
          </a:prstGeom>
          <a:solidFill>
            <a:srgbClr val="6C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776882" y="1553765"/>
            <a:ext cx="2250281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1" i="0">
                <a:solidFill>
                  <a:srgbClr val="181522"/>
                </a:solidFill>
                <a:latin typeface="Calibri"/>
              </a:rPr>
              <a:t>GitHub repository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2937" y="1777007"/>
            <a:ext cx="2411015" cy="2321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C3FC4"/>
                </a:solidFill>
                <a:latin typeface="Consolas"/>
              </a:rPr>
              <a:t>De-Coder05/redrob-ranking-challenge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867" y="2071687"/>
            <a:ext cx="2375296" cy="1250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847E92"/>
                </a:solidFill>
                <a:latin typeface="Calibri"/>
              </a:rPr>
              <a:t>full source + this deck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268265" y="1455539"/>
            <a:ext cx="2607468" cy="79474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ounded Rectangle 126"/>
          <p:cNvSpPr/>
          <p:nvPr/>
        </p:nvSpPr>
        <p:spPr>
          <a:xfrm>
            <a:off x="3393281" y="1580554"/>
            <a:ext cx="71437" cy="71437"/>
          </a:xfrm>
          <a:prstGeom prst="roundRect">
            <a:avLst>
              <a:gd name="adj" fmla="val 30000"/>
            </a:avLst>
          </a:prstGeom>
          <a:solidFill>
            <a:srgbClr val="2B3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3518296" y="1553765"/>
            <a:ext cx="2250281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1" i="0">
                <a:solidFill>
                  <a:srgbClr val="181522"/>
                </a:solidFill>
                <a:latin typeface="Calibri"/>
              </a:rPr>
              <a:t>Ranked output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384351" y="1777007"/>
            <a:ext cx="2411015" cy="2321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B3AD8"/>
                </a:solidFill>
                <a:latin typeface="Consolas"/>
              </a:rPr>
              <a:t>InnoCoders.csv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93281" y="2071687"/>
            <a:ext cx="2375296" cy="1250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847E92"/>
                </a:solidFill>
                <a:latin typeface="Calibri"/>
              </a:rPr>
              <a:t>top-100, validator-clean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009679" y="1455539"/>
            <a:ext cx="2607468" cy="79474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ounded Rectangle 131"/>
          <p:cNvSpPr/>
          <p:nvPr/>
        </p:nvSpPr>
        <p:spPr>
          <a:xfrm>
            <a:off x="6134695" y="1580554"/>
            <a:ext cx="71437" cy="71437"/>
          </a:xfrm>
          <a:prstGeom prst="roundRect">
            <a:avLst>
              <a:gd name="adj" fmla="val 30000"/>
            </a:avLst>
          </a:prstGeom>
          <a:solidFill>
            <a:srgbClr val="D32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6259710" y="1553765"/>
            <a:ext cx="2250281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1" i="0">
                <a:solidFill>
                  <a:srgbClr val="181522"/>
                </a:solidFill>
                <a:latin typeface="Calibri"/>
              </a:rPr>
              <a:t>Approach deck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125765" y="1777007"/>
            <a:ext cx="2411015" cy="2321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D32F6E"/>
                </a:solidFill>
                <a:latin typeface="Consolas"/>
              </a:rPr>
              <a:t>approach_deck.pdf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134695" y="2071687"/>
            <a:ext cx="2375296" cy="1250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847E92"/>
                </a:solidFill>
                <a:latin typeface="Calibri"/>
              </a:rPr>
              <a:t>this presentation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26851" y="2384226"/>
            <a:ext cx="2607468" cy="79474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ounded Rectangle 136"/>
          <p:cNvSpPr/>
          <p:nvPr/>
        </p:nvSpPr>
        <p:spPr>
          <a:xfrm>
            <a:off x="651867" y="2509242"/>
            <a:ext cx="71437" cy="71437"/>
          </a:xfrm>
          <a:prstGeom prst="roundRect">
            <a:avLst>
              <a:gd name="adj" fmla="val 30000"/>
            </a:avLst>
          </a:prstGeom>
          <a:solidFill>
            <a:srgbClr val="E0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776882" y="2482453"/>
            <a:ext cx="2250281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1" i="0">
                <a:solidFill>
                  <a:srgbClr val="181522"/>
                </a:solidFill>
                <a:latin typeface="Calibri"/>
              </a:rPr>
              <a:t>Submission metadata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2937" y="2705695"/>
            <a:ext cx="2411015" cy="2321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E07A28"/>
                </a:solidFill>
                <a:latin typeface="Consolas"/>
              </a:rPr>
              <a:t>submission_metadata.yaml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51867" y="3000375"/>
            <a:ext cx="2375296" cy="1250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847E92"/>
                </a:solidFill>
                <a:latin typeface="Calibri"/>
              </a:rPr>
              <a:t>mirrors the portal entry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268265" y="2384226"/>
            <a:ext cx="2607468" cy="79474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ounded Rectangle 141"/>
          <p:cNvSpPr/>
          <p:nvPr/>
        </p:nvSpPr>
        <p:spPr>
          <a:xfrm>
            <a:off x="3393281" y="2509242"/>
            <a:ext cx="71437" cy="71437"/>
          </a:xfrm>
          <a:prstGeom prst="roundRect">
            <a:avLst>
              <a:gd name="adj" fmla="val 30000"/>
            </a:avLst>
          </a:prstGeom>
          <a:solidFill>
            <a:srgbClr val="1CA0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3518296" y="2482453"/>
            <a:ext cx="2250281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1" i="0">
                <a:solidFill>
                  <a:srgbClr val="181522"/>
                </a:solidFill>
                <a:latin typeface="Calibri"/>
              </a:rPr>
              <a:t>Ranking engine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384351" y="2705695"/>
            <a:ext cx="2411015" cy="2321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CA096"/>
                </a:solidFill>
                <a:latin typeface="Consolas"/>
              </a:rPr>
              <a:t>rank.py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393281" y="3000375"/>
            <a:ext cx="2375296" cy="1250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847E92"/>
                </a:solidFill>
                <a:latin typeface="Calibri"/>
              </a:rPr>
              <a:t>the entire system, stdlib-only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009679" y="2384226"/>
            <a:ext cx="2607468" cy="794742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9050">
            <a:solidFill>
              <a:srgbClr val="E4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Rounded Rectangle 146"/>
          <p:cNvSpPr/>
          <p:nvPr/>
        </p:nvSpPr>
        <p:spPr>
          <a:xfrm>
            <a:off x="6134695" y="2509242"/>
            <a:ext cx="71437" cy="71437"/>
          </a:xfrm>
          <a:prstGeom prst="roundRect">
            <a:avLst>
              <a:gd name="adj" fmla="val 30000"/>
            </a:avLst>
          </a:prstGeom>
          <a:solidFill>
            <a:srgbClr val="3D8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6259710" y="2482453"/>
            <a:ext cx="2250281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50" b="1" i="0">
                <a:solidFill>
                  <a:srgbClr val="181522"/>
                </a:solidFill>
                <a:latin typeface="Calibri"/>
              </a:rPr>
              <a:t>Format validator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125765" y="2705695"/>
            <a:ext cx="2411015" cy="2321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3D84C4"/>
                </a:solidFill>
                <a:latin typeface="Consolas"/>
              </a:rPr>
              <a:t>validate_submission.py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134695" y="3000375"/>
            <a:ext cx="2375296" cy="1250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847E92"/>
                </a:solidFill>
                <a:latin typeface="Calibri"/>
              </a:rPr>
              <a:t>organizer-provided checks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26851" y="3286125"/>
            <a:ext cx="8090296" cy="428625"/>
          </a:xfrm>
          <a:prstGeom prst="roundRect">
            <a:avLst>
              <a:gd name="adj" fmla="val 10000"/>
            </a:avLst>
          </a:prstGeom>
          <a:solidFill>
            <a:srgbClr val="18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678656" y="3366492"/>
            <a:ext cx="7768828" cy="1250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B4AAD8"/>
                </a:solidFill>
                <a:latin typeface="Calibri"/>
              </a:rPr>
              <a:t>REPRODUCE THE SUBMISSION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78656" y="3500437"/>
            <a:ext cx="7768828" cy="1607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78E6AA"/>
                </a:solidFill>
                <a:latin typeface="Consolas"/>
              </a:rPr>
              <a:t>$  python rank.py --candidates ./candidates.jsonl --out ./InnoCoders.csv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